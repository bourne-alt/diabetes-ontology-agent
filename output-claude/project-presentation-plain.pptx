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开场不要讲技术。用三样东西把系统说清：一个整理过的知识书架、一个病历柜、一个只会照着查的助手。
重点是最后那句话：这套系统追求的不是回答更多，而是每个回答都能被现场核对。后面每一页都在拆解这句话怎么落地。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这一页回答“知识从哪来”。三个要点：
可重建——概念框架是一份文件，骨架自动生成，不靠人工在多个格式里同步。
可追踪——每份指南文件按内容算指纹，改一个字指纹就变，能定位是哪一版。
可把关——三道体检不过就进不了库。
最关键的是那个红色标记：诊断切点和控制目标不让 AI 生成。一个切点错 0.1，患者结论就变了，所以这类数字由人写死。AI 只做“照原文摘句子”，不下判断。
底部状态要照实讲，不要说成全绿。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不要陷进表结构。只讲两个仓库各自擅长什么。
关系型数据库擅长筛人、翻页、对账，存的是一行行原始记录，按干净程度分层——没清洗的只能溯源，清洗过的才准参与判定，演示数据绝不和真实数据算进同一个数字。
图数据库擅长回答关系问题，按抽屉分开存：概念骨架、人工写的切点、指南出处、AI 摘的条目、每位患者一张图，还有单独一格放“规则算出来的结论”。
最后那句是这一页的记忆点：表库回答是什么，图库回答凭什么。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这一页要纠正一个常见的想象：不是“把问题丢给模型，模型想一想就答了”。
顺序是有原因的。先在表库里把人锁定，是因为在整张关系网里全库扫描既慢又容易牵连无关的人。第二步的翻译和体检是关口——单位不对、数值不可信，流程在这里就停，不会硬给结论。第三步才让规则判，判定由规则做，不由模型做。第四步把结论和它的依据拼在一起。
最后交出来的是四件东西，不是一句话。尤其是第四件“还缺什么”——大多数系统不会主动告诉你这个。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ReAct 就是 Reason 加 Act：想一步、做一步、看一眼结果，再决定下一步。和“把问题丢给模型让它一口气答完”是两回事。
右边五条护栏才是重点。没有护栏的 ReAct 会变成“一直换个说法试，直到试出想要的答案”。所以：先检查两个库通不通；按问题类型分层走；从现成接口开始，自由查询放最后；术语查不到就记账不猜；每个目标有调用预算，用完就报“没推出来”。
要主动说明：这个助手本身在仓库外，仓库提供的是行动手册和工具，没有内置对话模型。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先让听众看懂这一步，后面的推演才有意义。
7.4% 确实落进了糖尿病区间——但落进区间只是完成了“这一次检验属于哪个区间”这件事。要形成确诊，规则还要求两个不同的检测日期。P90002 只测了一天，所以是暂定。
补一句容易被忽略的细节：同一天重复测两次也不能升级，因为规则数的是不同日期，不是结果条数。
这一页的记忆点：“数落进区间”和“人确诊了”，不是同一句话。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沿着七行念下来就是完整的 ReAct 过程：想、做、看、想、做、看、答。
第 3 步值得停一下：系统直接返回“还差什么”，助手不用自己猜差距在哪。
第 5 步是整页的重点，也是这套设计最克制的地方——助手可以自主决定探哪个项目、探几步、按什么顺序，但具体数值只有两个合法来源：用户明确给出，或者原样取自知识库里那条区间的端点，并且必须注明这个数的出身。取中点、微调、“典型值”，全部禁止，因为那些数是编的。
第 7 步必须保持“若……则……”的句式，不能说成“他已经确诊了”。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结论必须保持“若……则……”的形式念出来，一旦说成“他确诊了”，这一页就白做了。
三条红线逐条讲：
第一，这不是预测。系统不回答“他会不会”，只回答“如果，那么”。
第二，6.5 不是拍脑袋，是原样取自那条区间的下界，而且要注明出身——用了知识库的数就得说清是知识库的数。
第三，可复核。同一个问题问五次得到五个一样的指纹，这是和纯生成式回答最硬的一条差别。
最后强调沙盘：推演不写真实数据库，结构上就没有写入路径。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收尾要把边界说完整，这一页本身就是可信度的一部分。
左边是它真能做的四件事；右边是它明确不做的四件事——不给药、不给概率、不替代医生、不用没有依据的数字包装自己。
最后一句回扣全场：少生成一点，多核对一点。以及定位——这不是一个已经完成的医疗智能体，而是一套让未来的智能体更少越过证据边界的底座。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786384" cy="566928"/>
          </a:xfrm>
          <a:prstGeom prst="roundRect">
            <a:avLst>
              <a:gd name="adj" fmla="val 16129"/>
            </a:avLst>
          </a:prstGeom>
          <a:solidFill>
            <a:srgbClr val="0A1526"/>
          </a:solidFill>
          <a:ln w="19050">
            <a:solidFill>
              <a:srgbClr val="3FC7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822960"/>
            <a:ext cx="786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60" kern="0" dirty="0">
                <a:solidFill>
                  <a:srgbClr val="3FC7B4"/>
                </a:solidFill>
                <a:latin typeface="Arial" pitchFamily="34" charset="0"/>
                <a:ea typeface="+mn-ea"/>
                <a:cs typeface="Arial" pitchFamily="34" charset="-120"/>
              </a:rPr>
              <a:t>DMO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783080" y="8229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Diabetes Ontology Agent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783080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3A4BC"/>
                </a:solidFill>
                <a:latin typeface="Arial" pitchFamily="34" charset="0"/>
                <a:ea typeface="+mn-ea"/>
                <a:cs typeface="Arial" pitchFamily="34" charset="-120"/>
              </a:rPr>
              <a:t>糖尿病本体知识库 × 患者事实库 × 证据型智能体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6309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让 AI 说的每一句话</a:t>
            </a:r>
            <a:endParaRPr lang="en-US" sz="4600" dirty="0"/>
          </a:p>
          <a:p>
            <a:pPr algn="l" indent="0" marL="0">
              <a:lnSpc>
                <a:spcPts val="58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都能查到出处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40233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93A4BC"/>
                </a:solidFill>
                <a:latin typeface="Arial" pitchFamily="34" charset="0"/>
                <a:ea typeface="+mn-ea"/>
                <a:cs typeface="Arial" pitchFamily="34" charset="-120"/>
              </a:rPr>
              <a:t>把医学指南整理成机器能查的知识网，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93A4BC"/>
                </a:solidFill>
                <a:latin typeface="Arial" pitchFamily="34" charset="0"/>
                <a:ea typeface="+mn-ea"/>
                <a:cs typeface="Arial" pitchFamily="34" charset="-120"/>
              </a:rPr>
              <a:t>让智能体只能照着证据回答——查不到，就老实说查不到。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440680"/>
            <a:ext cx="5120640" cy="475488"/>
          </a:xfrm>
          <a:prstGeom prst="roundRect">
            <a:avLst>
              <a:gd name="adj" fmla="val 19231"/>
            </a:avLst>
          </a:prstGeom>
          <a:solidFill>
            <a:srgbClr val="0A1526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44068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4BC"/>
                </a:solidFill>
                <a:latin typeface="Arial" pitchFamily="34" charset="0"/>
                <a:ea typeface="+mn-ea"/>
                <a:cs typeface="Arial" pitchFamily="34" charset="-120"/>
              </a:rPr>
              <a:t>技术验证 / 学习项目  ·  Not a Medical Device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680960" y="1572768"/>
            <a:ext cx="3840480" cy="786384"/>
          </a:xfrm>
          <a:prstGeom prst="roundRect">
            <a:avLst>
              <a:gd name="adj" fmla="val 8140"/>
            </a:avLst>
          </a:prstGeom>
          <a:solidFill>
            <a:srgbClr val="14243D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54112" y="1618488"/>
            <a:ext cx="3694176" cy="408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这个人测了什么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54112" y="2005279"/>
            <a:ext cx="369417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A4BC"/>
                </a:solidFill>
                <a:latin typeface="Arial" pitchFamily="34" charset="0"/>
                <a:ea typeface="+mn-ea"/>
                <a:cs typeface="Arial" pitchFamily="34" charset="-120"/>
              </a:rPr>
              <a:t>原始检查记录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601200" y="2359152"/>
            <a:ext cx="0" cy="347472"/>
          </a:xfrm>
          <a:prstGeom prst="line">
            <a:avLst/>
          </a:prstGeom>
          <a:noFill/>
          <a:ln w="19050">
            <a:solidFill>
              <a:srgbClr val="2B3F5E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80960" y="2706624"/>
            <a:ext cx="3840480" cy="786384"/>
          </a:xfrm>
          <a:prstGeom prst="roundRect">
            <a:avLst>
              <a:gd name="adj" fmla="val 8140"/>
            </a:avLst>
          </a:prstGeom>
          <a:solidFill>
            <a:srgbClr val="14243D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54112" y="2752344"/>
            <a:ext cx="3694176" cy="408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这个数字可信吗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54112" y="3139135"/>
            <a:ext cx="369417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A4BC"/>
                </a:solidFill>
                <a:latin typeface="Arial" pitchFamily="34" charset="0"/>
                <a:ea typeface="+mn-ea"/>
                <a:cs typeface="Arial" pitchFamily="34" charset="-120"/>
              </a:rPr>
              <a:t>单位 · 可信度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601200" y="3493008"/>
            <a:ext cx="0" cy="347472"/>
          </a:xfrm>
          <a:prstGeom prst="line">
            <a:avLst/>
          </a:prstGeom>
          <a:noFill/>
          <a:ln w="19050">
            <a:solidFill>
              <a:srgbClr val="2B3F5E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680960" y="3840480"/>
            <a:ext cx="3840480" cy="786384"/>
          </a:xfrm>
          <a:prstGeom prst="roundRect">
            <a:avLst>
              <a:gd name="adj" fmla="val 8140"/>
            </a:avLst>
          </a:prstGeom>
          <a:solidFill>
            <a:srgbClr val="14243D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54112" y="3886200"/>
            <a:ext cx="3694176" cy="408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指南怎么说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54112" y="4272991"/>
            <a:ext cx="369417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A4BC"/>
                </a:solidFill>
                <a:latin typeface="Arial" pitchFamily="34" charset="0"/>
                <a:ea typeface="+mn-ea"/>
                <a:cs typeface="Arial" pitchFamily="34" charset="-120"/>
              </a:rPr>
              <a:t>切点 · 原文出处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601200" y="4626864"/>
            <a:ext cx="0" cy="347472"/>
          </a:xfrm>
          <a:prstGeom prst="line">
            <a:avLst/>
          </a:prstGeom>
          <a:noFill/>
          <a:ln w="19050">
            <a:solidFill>
              <a:srgbClr val="2B3F5E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680960" y="4974336"/>
            <a:ext cx="3840480" cy="786384"/>
          </a:xfrm>
          <a:prstGeom prst="roundRect">
            <a:avLst>
              <a:gd name="adj" fmla="val 8140"/>
            </a:avLst>
          </a:prstGeom>
          <a:solidFill>
            <a:srgbClr val="0A6A5F"/>
          </a:solidFill>
          <a:ln w="12700">
            <a:solidFill>
              <a:srgbClr val="0E8C7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54112" y="5020056"/>
            <a:ext cx="3694176" cy="408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结论 + 出处 + 还缺什么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54112" y="5406847"/>
            <a:ext cx="369417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E8E1"/>
                </a:solidFill>
                <a:latin typeface="Arial" pitchFamily="34" charset="0"/>
                <a:ea typeface="+mn-ea"/>
                <a:cs typeface="Arial" pitchFamily="34" charset="-120"/>
              </a:rPr>
              <a:t>可核查的答案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40" kern="0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先说清楚这是什么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它是给 AI 用的“查证工具”，不是会看病的 AI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5C2"/>
                </a:solidFill>
                <a:latin typeface="Arial" pitchFamily="34" charset="0"/>
                <a:ea typeface="+mn-ea"/>
                <a:cs typeface="Arial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5C2"/>
                </a:solidFill>
                <a:latin typeface="Arial" pitchFamily="34" charset="0"/>
                <a:ea typeface="+mn-ea"/>
                <a:cs typeface="Arial" pitchFamily="34" charset="-120"/>
              </a:rPr>
              <a:t>01 / 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911535" cy="402336"/>
          </a:xfrm>
          <a:prstGeom prst="roundRect">
            <a:avLst>
              <a:gd name="adj" fmla="val 15909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481328"/>
            <a:ext cx="105823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把它想成三样东西凑在一起：一个整理过的书架、一个病历柜，和一个只会照着查、不许自己编的助手。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3465576" cy="3017520"/>
          </a:xfrm>
          <a:prstGeom prst="roundRect">
            <a:avLst>
              <a:gd name="adj" fmla="val 303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2688" y="2450592"/>
            <a:ext cx="914400" cy="137160"/>
          </a:xfrm>
          <a:prstGeom prst="roundRect">
            <a:avLst>
              <a:gd name="adj" fmla="val 20000"/>
            </a:avLst>
          </a:prstGeom>
          <a:solidFill>
            <a:srgbClr val="0E8C7D"/>
          </a:solidFill>
          <a:ln w="12700">
            <a:solidFill>
              <a:srgbClr val="0E8C7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2651760"/>
            <a:ext cx="768096" cy="137160"/>
          </a:xfrm>
          <a:prstGeom prst="roundRect">
            <a:avLst>
              <a:gd name="adj" fmla="val 20000"/>
            </a:avLst>
          </a:prstGeom>
          <a:solidFill>
            <a:srgbClr val="0E8C7D"/>
          </a:solidFill>
          <a:ln w="12700">
            <a:solidFill>
              <a:srgbClr val="0E8C7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2852928"/>
            <a:ext cx="621792" cy="137160"/>
          </a:xfrm>
          <a:prstGeom prst="roundRect">
            <a:avLst>
              <a:gd name="adj" fmla="val 20000"/>
            </a:avLst>
          </a:prstGeom>
          <a:solidFill>
            <a:srgbClr val="0E8C7D"/>
          </a:solidFill>
          <a:ln w="12700">
            <a:solidFill>
              <a:srgbClr val="0E8C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21868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知识书架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32688" y="362102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Knowledge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32688" y="3968496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一本整理过的糖尿病知识库。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每一条数值、每一句建议，都标着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出自哪份指南的哪一句原话。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61688" y="2148840"/>
            <a:ext cx="3465576" cy="3017520"/>
          </a:xfrm>
          <a:prstGeom prst="roundRect">
            <a:avLst>
              <a:gd name="adj" fmla="val 303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54296" y="2432304"/>
            <a:ext cx="9144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9050">
            <a:solidFill>
              <a:srgbClr val="0E8C7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82312" y="2606040"/>
            <a:ext cx="658368" cy="73152"/>
          </a:xfrm>
          <a:prstGeom prst="roundRect">
            <a:avLst>
              <a:gd name="adj" fmla="val 25000"/>
            </a:avLst>
          </a:prstGeom>
          <a:solidFill>
            <a:srgbClr val="0E8C7D"/>
          </a:solidFill>
          <a:ln w="12700">
            <a:solidFill>
              <a:srgbClr val="0E8C7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82312" y="2807208"/>
            <a:ext cx="658368" cy="73152"/>
          </a:xfrm>
          <a:prstGeom prst="roundRect">
            <a:avLst>
              <a:gd name="adj" fmla="val 25000"/>
            </a:avLst>
          </a:prstGeom>
          <a:solidFill>
            <a:srgbClr val="0E8C7D"/>
          </a:solidFill>
          <a:ln w="12700">
            <a:solidFill>
              <a:srgbClr val="0E8C7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54296" y="321868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病历柜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4654296" y="362102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Patient Facts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54296" y="3968496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这位患者真实的检查记录。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哪天测的、用什么单位、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这个数字可不可信，都记着。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083296" y="2148840"/>
            <a:ext cx="3465576" cy="3017520"/>
          </a:xfrm>
          <a:prstGeom prst="roundRect">
            <a:avLst>
              <a:gd name="adj" fmla="val 303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75904" y="2395728"/>
            <a:ext cx="566928" cy="56692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E8C7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69680" y="2889504"/>
            <a:ext cx="274320" cy="256032"/>
          </a:xfrm>
          <a:prstGeom prst="line">
            <a:avLst/>
          </a:prstGeom>
          <a:noFill/>
          <a:ln w="38100">
            <a:solidFill>
              <a:srgbClr val="0E8C7D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8375904" y="321868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查证助手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8375904" y="3621024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40" kern="0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Agent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375904" y="3968496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会翻书、会翻病历，但不许自己编。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查不到就说查不到，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判不了就说清楚为什么判不了。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54406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它的价值不是“多回答几个问题”，而是“每个回答都能被人当场核对”。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40" kern="0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一 · 知识库是怎么建出来的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知识库不是手写出来的，是“造”出来的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5C2"/>
                </a:solidFill>
                <a:latin typeface="Arial" pitchFamily="34" charset="0"/>
                <a:ea typeface="+mn-ea"/>
                <a:cs typeface="Arial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5C2"/>
                </a:solidFill>
                <a:latin typeface="Arial" pitchFamily="34" charset="0"/>
                <a:ea typeface="+mn-ea"/>
                <a:cs typeface="Arial" pitchFamily="34" charset="-120"/>
              </a:rPr>
              <a:t>02 / 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11535" cy="402336"/>
          </a:xfrm>
          <a:prstGeom prst="roundRect">
            <a:avLst>
              <a:gd name="adj" fmla="val 15909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463040"/>
            <a:ext cx="105823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从一份概念框架和几份指南原文出发，经过加工和三道体检，才变成机器能直接查的知识网。每一步都留痕，改了什么、谁改的，都查得到。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原料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加工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09360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B8860B"/>
                </a:solidFill>
                <a:latin typeface="Arial" pitchFamily="34" charset="0"/>
                <a:ea typeface="+mn-ea"/>
                <a:cs typeface="Arial" pitchFamily="34" charset="-120"/>
              </a:rPr>
              <a:t>把关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0" y="1965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成品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304288"/>
            <a:ext cx="2377440" cy="822960"/>
          </a:xfrm>
          <a:prstGeom prst="roundRect">
            <a:avLst>
              <a:gd name="adj" fmla="val 7778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350008"/>
            <a:ext cx="2231136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概念框架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3232" y="2756916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有哪些概念、谁连谁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602736"/>
            <a:ext cx="2377440" cy="822960"/>
          </a:xfrm>
          <a:prstGeom prst="roundRect">
            <a:avLst>
              <a:gd name="adj" fmla="val 7778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648456"/>
            <a:ext cx="2231136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指南原文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3232" y="4055364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TXT / PDF 文件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0" y="2304288"/>
            <a:ext cx="2377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47872" y="2350008"/>
            <a:ext cx="2231136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自动生成骨架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47872" y="2716682"/>
            <a:ext cx="2231136" cy="29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不用人工同步多份文件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74720" y="3172968"/>
            <a:ext cx="2377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47872" y="3218688"/>
            <a:ext cx="2231136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给每份文件按内容算指纹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47872" y="3585362"/>
            <a:ext cx="2231136" cy="29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改一个字，指纹就变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74720" y="4041648"/>
            <a:ext cx="2377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47872" y="4087368"/>
            <a:ext cx="2231136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让 AI 照原文摘句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47872" y="4454042"/>
            <a:ext cx="2231136" cy="29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只摘，不下判断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309360" y="2304288"/>
            <a:ext cx="2377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25400">
            <a:solidFill>
              <a:srgbClr val="E5B2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82512" y="2350008"/>
            <a:ext cx="2231136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结构体检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82512" y="2716682"/>
            <a:ext cx="2231136" cy="29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格式和安全约束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309360" y="3172968"/>
            <a:ext cx="2377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25400">
            <a:solidFill>
              <a:srgbClr val="E5B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82512" y="3218688"/>
            <a:ext cx="2231136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原文逐字核对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82512" y="3585362"/>
            <a:ext cx="2231136" cy="29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引用是不是真的那句话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309360" y="4041648"/>
            <a:ext cx="23774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25400">
            <a:solidFill>
              <a:srgbClr val="E5B2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82512" y="4087368"/>
            <a:ext cx="2231136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装载验收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82512" y="4454042"/>
            <a:ext cx="2231136" cy="29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进库后再查一遍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144000" y="2304288"/>
            <a:ext cx="2377440" cy="822960"/>
          </a:xfrm>
          <a:prstGeom prst="roundRect">
            <a:avLst>
              <a:gd name="adj" fmla="val 7778"/>
            </a:avLst>
          </a:prstGeom>
          <a:solidFill>
            <a:srgbClr val="E4F3F0"/>
          </a:solidFill>
          <a:ln w="12700">
            <a:solidFill>
              <a:srgbClr val="E4F3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17152" y="2350008"/>
            <a:ext cx="2231136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可查询的知识网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217152" y="2756916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概念 · 关系 · 出处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144000" y="3602736"/>
            <a:ext cx="2377440" cy="822960"/>
          </a:xfrm>
          <a:prstGeom prst="roundRect">
            <a:avLst>
              <a:gd name="adj" fmla="val 7778"/>
            </a:avLst>
          </a:prstGeom>
          <a:solidFill>
            <a:srgbClr val="E4F3F0"/>
          </a:solidFill>
          <a:ln w="12700">
            <a:solidFill>
              <a:srgbClr val="E4F3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17152" y="3648456"/>
            <a:ext cx="2231136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可执行的判定规则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217152" y="4055364"/>
            <a:ext cx="22311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机器直接跑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090672" y="3383280"/>
            <a:ext cx="310896" cy="0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925312" y="3383280"/>
            <a:ext cx="310896" cy="0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8759952" y="3383280"/>
            <a:ext cx="310896" cy="0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3474720" y="4956048"/>
            <a:ext cx="5212080" cy="566928"/>
          </a:xfrm>
          <a:prstGeom prst="roundRect">
            <a:avLst>
              <a:gd name="adj" fmla="val 11290"/>
            </a:avLst>
          </a:prstGeom>
          <a:solidFill>
            <a:srgbClr val="F9EBE9"/>
          </a:solidFill>
          <a:ln w="12700">
            <a:solidFill>
              <a:srgbClr val="F9EBE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39312" y="495604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3B30"/>
                </a:solidFill>
                <a:latin typeface="Arial" pitchFamily="34" charset="0"/>
                <a:ea typeface="+mn-ea"/>
                <a:cs typeface="Arial" pitchFamily="34" charset="-120"/>
              </a:rPr>
              <a:t>×   诊断切点 · 控制目标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400800" y="495604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93B30"/>
                </a:solidFill>
                <a:latin typeface="Arial" pitchFamily="34" charset="0"/>
                <a:ea typeface="+mn-ea"/>
                <a:cs typeface="Arial" pitchFamily="34" charset="-120"/>
              </a:rPr>
              <a:t>由人工写定，AI 不参与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40080" y="5705856"/>
            <a:ext cx="10911535" cy="438912"/>
          </a:xfrm>
          <a:prstGeom prst="roundRect">
            <a:avLst>
              <a:gd name="adj" fmla="val 12500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1248" y="5705856"/>
            <a:ext cx="105091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B8860B"/>
                </a:solidFill>
                <a:latin typeface="Arial" pitchFamily="34" charset="0"/>
                <a:ea typeface="+mn-ea"/>
                <a:cs typeface="Arial" pitchFamily="34" charset="-120"/>
              </a:rPr>
              <a:t>现状如实说：原文逐字核对 31 / 31 全过；结构体检目前还有 2 条新问题没修 —— 这不是一条全绿的流水线。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40" kern="0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二 · 数据存在哪里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两个仓库，各存各的，绝不混在一起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5C2"/>
                </a:solidFill>
                <a:latin typeface="Arial" pitchFamily="34" charset="0"/>
                <a:ea typeface="+mn-ea"/>
                <a:cs typeface="Arial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5C2"/>
                </a:solidFill>
                <a:latin typeface="Arial" pitchFamily="34" charset="0"/>
                <a:ea typeface="+mn-ea"/>
                <a:cs typeface="Arial" pitchFamily="34" charset="-120"/>
              </a:rPr>
              <a:t>03 / 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11535" cy="402336"/>
          </a:xfrm>
          <a:prstGeom prst="roundRect">
            <a:avLst>
              <a:gd name="adj" fmla="val 15909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463040"/>
            <a:ext cx="105823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一个存“关系网”，一个存“一行行的记录”。分开存，系统才分得清哪些是记录下来的、哪些是算出来的。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534924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22225">
            <a:solidFill>
              <a:srgbClr val="0E8C7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331720"/>
            <a:ext cx="566928" cy="658368"/>
          </a:xfrm>
          <a:prstGeom prst="can">
            <a:avLst/>
          </a:prstGeom>
          <a:solidFill>
            <a:srgbClr val="E4F3F0"/>
          </a:solidFill>
          <a:ln w="15875">
            <a:solidFill>
              <a:srgbClr val="0E8C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33172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图数据库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00200" y="26791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存“关系网”  ·  擅长回答：这两件事有没有关系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3108960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分成几个抽屉，各存各的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68680" y="3346704"/>
            <a:ext cx="2377440" cy="4572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3374136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概念骨架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78408" y="3584448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有哪些概念、怎么分类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355848" y="3346704"/>
            <a:ext cx="2377440" cy="4572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65576" y="3374136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人工写的诊断切点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65576" y="3584448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高危数值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68680" y="3877056"/>
            <a:ext cx="2377440" cy="4572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" y="3904488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指南出处原文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78408" y="411480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逐字引用 + 指纹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355848" y="3877056"/>
            <a:ext cx="2377440" cy="4572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65576" y="3904488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AI 摘出来的条目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65576" y="4114800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单独一格，可回溯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68680" y="4407408"/>
            <a:ext cx="2377440" cy="4572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8408" y="4434840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每位患者一张关系图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78408" y="4645152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一人一张，互不干扰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55848" y="4407408"/>
            <a:ext cx="2377440" cy="457200"/>
          </a:xfrm>
          <a:prstGeom prst="roundRect">
            <a:avLst>
              <a:gd name="adj" fmla="val 10000"/>
            </a:avLst>
          </a:prstGeom>
          <a:solidFill>
            <a:srgbClr val="E4F3F0"/>
          </a:solidFill>
          <a:ln w="12700">
            <a:solidFill>
              <a:srgbClr val="0E8C7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65576" y="4434840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规则算出来的结论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465576" y="4645152"/>
            <a:ext cx="21579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单独一格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68680" y="50292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记录下来的事实   ≠   算出来的结论   —— 不放同一格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99632" y="2148840"/>
            <a:ext cx="534924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9050">
            <a:solidFill>
              <a:srgbClr val="D9E0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28232" y="2331720"/>
            <a:ext cx="566928" cy="658368"/>
          </a:xfrm>
          <a:prstGeom prst="can">
            <a:avLst/>
          </a:prstGeom>
          <a:solidFill>
            <a:srgbClr val="F5F7FA"/>
          </a:solidFill>
          <a:ln w="15875">
            <a:solidFill>
              <a:srgbClr val="4457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59752" y="233172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关系型数据库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159752" y="26791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存“一行行的记录”  ·  擅长回答：有哪些人、测了几次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28232" y="3108960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按“干净程度”分层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28232" y="3346704"/>
            <a:ext cx="4892040" cy="365760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334670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原始层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818120" y="334670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从医院库照抄，没清洗，只能用来溯源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28232" y="3749040"/>
            <a:ext cx="4892040" cy="365760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37960" y="37490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对照层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818120" y="37490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本地叫法 ↔ 标准概念的翻译表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428232" y="4151376"/>
            <a:ext cx="4892040" cy="365760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37960" y="415137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可用层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818120" y="415137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清洗过、单位统一，才准参与判定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428232" y="4553712"/>
            <a:ext cx="4892040" cy="365760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37960" y="455371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演示层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818120" y="455371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为演示造的数据，绝不和真实数据算进同一个数字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428232" y="50292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只有“可用层”的数据，才允许拿去和切点比大小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640080" y="5669280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一句话：表库回答“是什么”，图库回答“凭什么”。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40" kern="0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三 · 一次判断是怎么做出来的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回答一个问题要走四步，而且顺序不能反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5C2"/>
                </a:solidFill>
                <a:latin typeface="Arial" pitchFamily="34" charset="0"/>
                <a:ea typeface="+mn-ea"/>
                <a:cs typeface="Arial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5C2"/>
                </a:solidFill>
                <a:latin typeface="Arial" pitchFamily="34" charset="0"/>
                <a:ea typeface="+mn-ea"/>
                <a:cs typeface="Arial" pitchFamily="34" charset="-120"/>
              </a:rPr>
              <a:t>04 / 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11535" cy="402336"/>
          </a:xfrm>
          <a:prstGeom prst="roundRect">
            <a:avLst>
              <a:gd name="adj" fmla="val 15909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463040"/>
            <a:ext cx="105823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先在表库里把人和原始记录锁定，再交给图库里的规则去判——反过来做，就等于在整张关系网里大海捞针。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2514600" cy="260604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286000"/>
            <a:ext cx="2112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41248" y="2834640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先翻病历柜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41248" y="3182112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表库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41248" y="3493008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在关系型数据库里定位这个人，</a:t>
            </a: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取出他的原始检查行。</a:t>
            </a: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先锁定人，再谈判定。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9544" y="2926080"/>
            <a:ext cx="173736" cy="0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438144" y="2148840"/>
            <a:ext cx="2514600" cy="260604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39312" y="2286000"/>
            <a:ext cx="2112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3639312" y="2834640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翻译 + 体检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639312" y="3182112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对照表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39312" y="3493008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把“糖化血红蛋白”这类本地叫法</a:t>
            </a: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对到知识库里的标准概念；</a:t>
            </a: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顺手检查单位对不对、</a:t>
            </a: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这个数值可不可信。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07608" y="2926080"/>
            <a:ext cx="173736" cy="0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36208" y="2148840"/>
            <a:ext cx="2514600" cy="260604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37376" y="2286000"/>
            <a:ext cx="2112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3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6437376" y="2834640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让规则判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37376" y="3182112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图库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37376" y="3493008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落在哪个区间？够不够确诊？</a:t>
            </a: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有没有用药禁忌？</a:t>
            </a: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判定由规则做，不由模型做。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805672" y="2926080"/>
            <a:ext cx="173736" cy="0"/>
          </a:xfrm>
          <a:prstGeom prst="line">
            <a:avLst/>
          </a:prstGeom>
          <a:noFill/>
          <a:ln w="19050">
            <a:solidFill>
              <a:srgbClr val="A9B5C2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034272" y="2148840"/>
            <a:ext cx="2514600" cy="2606040"/>
          </a:xfrm>
          <a:prstGeom prst="roundRect">
            <a:avLst>
              <a:gd name="adj" fmla="val 3636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35440" y="2286000"/>
            <a:ext cx="2112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4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9235440" y="2834640"/>
            <a:ext cx="2112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拼证据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9235440" y="3182112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汇总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235440" y="3493008"/>
            <a:ext cx="21122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把结论、用到的规则、指南原句，</a:t>
            </a: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以及原始那一行记录，</a:t>
            </a:r>
            <a:endParaRPr lang="en-US" sz="1100" dirty="0"/>
          </a:p>
          <a:p>
            <a:pPr algn="l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拼成一个能被核对的答案。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4956048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最后交出来的不是一句话，而是四件东西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5266944"/>
            <a:ext cx="2514600" cy="475488"/>
          </a:xfrm>
          <a:prstGeom prst="roundRect">
            <a:avLst>
              <a:gd name="adj" fmla="val 13462"/>
            </a:avLst>
          </a:prstGeom>
          <a:solidFill>
            <a:srgbClr val="E4F3F0"/>
          </a:solidFill>
          <a:ln w="12700">
            <a:solidFill>
              <a:srgbClr val="E4F3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266944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结论是什么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438144" y="5266944"/>
            <a:ext cx="2514600" cy="475488"/>
          </a:xfrm>
          <a:prstGeom prst="roundRect">
            <a:avLst>
              <a:gd name="adj" fmla="val 13462"/>
            </a:avLst>
          </a:prstGeom>
          <a:solidFill>
            <a:srgbClr val="E4F3F0"/>
          </a:solidFill>
          <a:ln w="12700">
            <a:solidFill>
              <a:srgbClr val="E4F3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38144" y="5266944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凭什么这么说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236208" y="5266944"/>
            <a:ext cx="2514600" cy="475488"/>
          </a:xfrm>
          <a:prstGeom prst="roundRect">
            <a:avLst>
              <a:gd name="adj" fmla="val 13462"/>
            </a:avLst>
          </a:prstGeom>
          <a:solidFill>
            <a:srgbClr val="E4F3F0"/>
          </a:solidFill>
          <a:ln w="12700">
            <a:solidFill>
              <a:srgbClr val="E4F3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36208" y="5266944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指南原话在哪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034272" y="5266944"/>
            <a:ext cx="2514600" cy="475488"/>
          </a:xfrm>
          <a:prstGeom prst="roundRect">
            <a:avLst>
              <a:gd name="adj" fmla="val 13462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34272" y="5266944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Arial" pitchFamily="34" charset="0"/>
                <a:ea typeface="+mn-ea"/>
                <a:cs typeface="Arial" pitchFamily="34" charset="-120"/>
              </a:rPr>
              <a:t>还缺什么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0080" y="58704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如果第 2 步发现单位缺了或数值不可信，流程就在这里停下并说明原因——不会硬给一个结论。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40" kern="0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四 · 智能体是怎么“想”的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想一步，查一步，看一眼结果，再想下一步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5C2"/>
                </a:solidFill>
                <a:latin typeface="Arial" pitchFamily="34" charset="0"/>
                <a:ea typeface="+mn-ea"/>
                <a:cs typeface="Arial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5C2"/>
                </a:solidFill>
                <a:latin typeface="Arial" pitchFamily="34" charset="0"/>
                <a:ea typeface="+mn-ea"/>
                <a:cs typeface="Arial" pitchFamily="34" charset="-120"/>
              </a:rPr>
              <a:t>05 / 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11535" cy="402336"/>
          </a:xfrm>
          <a:prstGeom prst="roundRect">
            <a:avLst>
              <a:gd name="adj" fmla="val 15909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463040"/>
            <a:ext cx="105823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ReAct = Reason（想）+ Act（做）。它不是把问题一次性丢给模型，而是每做一个动作前必须先说理由，做完必须看结果，不够就再来一轮。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14884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25856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1  想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26060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这个问题该问哪一层？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是问“是什么”，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还是问“凭什么”？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66160" y="214884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225856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2  做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749040" y="26060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只调这一层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够用的那几个工具，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不为“更完整”多调。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566160" y="379476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39044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3  看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749040" y="42519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读返回的数据，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缺什么就记下什么，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不脑补。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" y="379476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E4F3F0"/>
          </a:solidFill>
          <a:ln w="12700">
            <a:solidFill>
              <a:srgbClr val="0E8C7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9044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4  够了吗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05840" y="42519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不够 → 回到第一步；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够了才动笔写答案。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063240" y="2834640"/>
            <a:ext cx="457200" cy="0"/>
          </a:xfrm>
          <a:prstGeom prst="line">
            <a:avLst/>
          </a:prstGeom>
          <a:noFill/>
          <a:ln w="19050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663440" y="3566160"/>
            <a:ext cx="0" cy="182880"/>
          </a:xfrm>
          <a:prstGeom prst="line">
            <a:avLst/>
          </a:prstGeom>
          <a:noFill/>
          <a:ln w="19050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 flipH="1">
            <a:off x="3063240" y="4480560"/>
            <a:ext cx="457200" cy="0"/>
          </a:xfrm>
          <a:prstGeom prst="line">
            <a:avLst/>
          </a:prstGeom>
          <a:noFill/>
          <a:ln w="19050">
            <a:solidFill>
              <a:srgbClr val="0E8C7D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1920240" y="3566160"/>
            <a:ext cx="0" cy="182880"/>
          </a:xfrm>
          <a:prstGeom prst="line">
            <a:avLst/>
          </a:prstGeom>
          <a:noFill/>
          <a:ln w="19050">
            <a:solidFill>
              <a:srgbClr val="0E8C7D"/>
            </a:solidFill>
            <a:prstDash val="dash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822960" y="528523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这个“助手”本身在仓库之外（例如 Claude）。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仓库提供的是它的行动手册和可调用的工具，不含内置对话模型。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09360" y="2148840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五条护栏 —— 它和普通聊天机器人的区别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2542032"/>
            <a:ext cx="5239512" cy="548640"/>
          </a:xfrm>
          <a:prstGeom prst="roundRect">
            <a:avLst>
              <a:gd name="adj" fmla="val 11667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73952" y="254203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先体检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0" y="25420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两个仓库通不通？不通就停，不用常识补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09360" y="3182112"/>
            <a:ext cx="5239512" cy="548640"/>
          </a:xfrm>
          <a:prstGeom prst="roundRect">
            <a:avLst>
              <a:gd name="adj" fmla="val 11667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73952" y="318211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分层走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772400" y="318211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问“是什么”去表库，问“凭什么”去图库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09360" y="3822192"/>
            <a:ext cx="5239512" cy="548640"/>
          </a:xfrm>
          <a:prstGeom prst="roundRect">
            <a:avLst>
              <a:gd name="adj" fmla="val 11667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73952" y="382219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由窄到宽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0" y="382219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先用现成接口，自由查询是最后手段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309360" y="4462272"/>
            <a:ext cx="5239512" cy="548640"/>
          </a:xfrm>
          <a:prstGeom prst="roundRect">
            <a:avLst>
              <a:gd name="adj" fmla="val 11667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73952" y="446227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不猜名字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772400" y="446227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术语查不到就说查不到，不换个说法再试一遍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309360" y="5102352"/>
            <a:ext cx="5239512" cy="548640"/>
          </a:xfrm>
          <a:prstGeom prst="roundRect">
            <a:avLst>
              <a:gd name="adj" fmla="val 11667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73952" y="510235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有预算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772400" y="51023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一个目标最多试 4 次，用完就说“没推出来”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309360" y="5779008"/>
            <a:ext cx="5239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护栏的作用：让它答不出来的时候，老实说答不出来。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40" kern="0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五 · 真实样例（一）起点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一次 7.4%，为什么只能说“暂定”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5C2"/>
                </a:solidFill>
                <a:latin typeface="Arial" pitchFamily="34" charset="0"/>
                <a:ea typeface="+mn-ea"/>
                <a:cs typeface="Arial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5C2"/>
                </a:solidFill>
                <a:latin typeface="Arial" pitchFamily="34" charset="0"/>
                <a:ea typeface="+mn-ea"/>
                <a:cs typeface="Arial" pitchFamily="34" charset="-120"/>
              </a:rPr>
              <a:t>06 / 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0911535" cy="402336"/>
          </a:xfrm>
          <a:prstGeom prst="roundRect">
            <a:avLst>
              <a:gd name="adj" fmla="val 15909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463040"/>
            <a:ext cx="105823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患者 P90002：2026-01-15 测了一次糖化血红蛋白，结果 7.4%。这个数落进了糖尿病区间——但系统给的结论是“暂定”，不是“确诊”。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知识库里的三个区间（由人工写定的诊断切点）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97280" y="3063240"/>
            <a:ext cx="2962656" cy="566928"/>
          </a:xfrm>
          <a:prstGeom prst="roundRect">
            <a:avLst>
              <a:gd name="adj" fmla="val 1129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063240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正常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694176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8CA0"/>
                </a:solidFill>
                <a:latin typeface="Courier New" pitchFamily="34" charset="0"/>
                <a:ea typeface="+mn-ea"/>
                <a:cs typeface="Courier New" pitchFamily="34" charset="-120"/>
              </a:rPr>
              <a:t>( −∞ , 5.7 )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0" y="3063240"/>
            <a:ext cx="2322576" cy="566928"/>
          </a:xfrm>
          <a:prstGeom prst="roundRect">
            <a:avLst>
              <a:gd name="adj" fmla="val 11290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3063240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Arial" pitchFamily="34" charset="0"/>
                <a:ea typeface="+mn-ea"/>
                <a:cs typeface="Arial" pitchFamily="34" charset="-120"/>
              </a:rPr>
              <a:t>糖尿病前期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0" y="3694176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8CA0"/>
                </a:solidFill>
                <a:latin typeface="Courier New" pitchFamily="34" charset="0"/>
                <a:ea typeface="+mn-ea"/>
                <a:cs typeface="Courier New" pitchFamily="34" charset="-120"/>
              </a:rPr>
              <a:t>[ 5.7 , 6.4 ]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92240" y="3063240"/>
            <a:ext cx="4572000" cy="566928"/>
          </a:xfrm>
          <a:prstGeom prst="roundRect">
            <a:avLst>
              <a:gd name="adj" fmla="val 11290"/>
            </a:avLst>
          </a:prstGeom>
          <a:solidFill>
            <a:srgbClr val="E4F3F0"/>
          </a:solidFill>
          <a:ln w="12700">
            <a:solidFill>
              <a:srgbClr val="E4F3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30632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糖尿病区间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36941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8CA0"/>
                </a:solidFill>
                <a:latin typeface="Courier New" pitchFamily="34" charset="0"/>
                <a:ea typeface="+mn-ea"/>
                <a:cs typeface="Courier New" pitchFamily="34" charset="-120"/>
              </a:rPr>
              <a:t>[ 6.5 , +∞ 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223760" y="248716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7.4 %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046720" y="2926080"/>
            <a:ext cx="0" cy="118872"/>
          </a:xfrm>
          <a:prstGeom prst="line">
            <a:avLst/>
          </a:prstGeom>
          <a:noFill/>
          <a:ln w="25400">
            <a:solidFill>
              <a:srgbClr val="11202F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097280" y="404164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开区间和闭区间不能混：5.7 属于糖尿病前期，不属于正常。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4572000"/>
            <a:ext cx="5239512" cy="1170432"/>
          </a:xfrm>
          <a:prstGeom prst="roundRect">
            <a:avLst>
              <a:gd name="adj" fmla="val 7813"/>
            </a:avLst>
          </a:prstGeom>
          <a:solidFill>
            <a:srgbClr val="FAF1DE"/>
          </a:solidFill>
          <a:ln w="19050">
            <a:solidFill>
              <a:srgbClr val="E5B2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7000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Arial" pitchFamily="34" charset="0"/>
                <a:ea typeface="+mn-ea"/>
                <a:cs typeface="Arial" pitchFamily="34" charset="-120"/>
              </a:rPr>
              <a:t>只有 1 个检测日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49926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8860B"/>
                </a:solidFill>
                <a:latin typeface="Arial" pitchFamily="34" charset="0"/>
                <a:ea typeface="+mn-ea"/>
                <a:cs typeface="Arial" pitchFamily="34" charset="-120"/>
              </a:rPr>
              <a:t>暂定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383280" y="4700016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落进区间了，但规则还要求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“两个不同的检测日期”，条件没凑齐。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09360" y="4572000"/>
            <a:ext cx="5239512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9050">
            <a:solidFill>
              <a:srgbClr val="0E8C7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47000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2 个不同检测日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37960" y="49926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确诊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052560" y="4700016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同一天重复测两次不算——</a:t>
            </a:r>
            <a:endParaRPr lang="en-US" sz="1050" dirty="0"/>
          </a:p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规则数的是不同日期，不是结果条数。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" y="58978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“这个数落进了糖尿病区间”和“这个人确诊了糖尿病”，不是同一句话。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40" kern="0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五 · 真实样例（二）过程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“对 P90002 的病情进行推演”——它是这样做的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5C2"/>
                </a:solidFill>
                <a:latin typeface="Arial" pitchFamily="34" charset="0"/>
                <a:ea typeface="+mn-ea"/>
                <a:cs typeface="Arial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5C2"/>
                </a:solidFill>
                <a:latin typeface="Arial" pitchFamily="34" charset="0"/>
                <a:ea typeface="+mn-ea"/>
                <a:cs typeface="Arial" pitchFamily="34" charset="-120"/>
              </a:rPr>
              <a:t>07 / 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81328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想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481328" y="1481328"/>
            <a:ext cx="10067544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82496" y="148132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这是“如果……会怎样”，属于推演，不是预测。先要拿到他现在的真实情况。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139696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E4F3F0"/>
          </a:solidFill>
          <a:ln w="12700">
            <a:solidFill>
              <a:srgbClr val="E4F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39696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做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481328" y="2139696"/>
            <a:ext cx="10067544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82496" y="2139696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取基线：把这位患者的现状完整读一遍。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2798064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98064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Arial" pitchFamily="34" charset="0"/>
                <a:ea typeface="+mn-ea"/>
                <a:cs typeface="Arial" pitchFamily="34" charset="-120"/>
              </a:rPr>
              <a:t>看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481328" y="2798064"/>
            <a:ext cx="10067544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82496" y="279806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7.4%、暂定诊断——而且系统直接告诉它“还差什么”，不用自己猜。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3456432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456432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想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481328" y="3456432"/>
            <a:ext cx="10067544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82496" y="34564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目标是把“暂定”变成“确诊”。差的是第二个检测日期，不是更高的数值。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4114800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E4F3F0"/>
          </a:solidFill>
          <a:ln w="12700">
            <a:solidFill>
              <a:srgbClr val="E4F3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114800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做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481328" y="4114800"/>
            <a:ext cx="10067544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82496" y="411480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设一个假设：同一个项目、同一个单位，换一个日期。数值不许自己编——要么用户给，要么原样取切点 6.5，并注明这个数出自哪条区间。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4773168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FAF1DE"/>
          </a:solidFill>
          <a:ln w="12700">
            <a:solidFill>
              <a:srgbClr val="FAF1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773168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Arial" pitchFamily="34" charset="0"/>
                <a:ea typeface="+mn-ea"/>
                <a:cs typeface="Arial" pitchFamily="34" charset="-120"/>
              </a:rPr>
              <a:t>看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481328" y="4773168"/>
            <a:ext cx="10067544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9E0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82496" y="477316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结论从“暂定”变成“确诊”；同时拿到一个固定的结果指纹。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" y="5431536"/>
            <a:ext cx="713232" cy="566928"/>
          </a:xfrm>
          <a:prstGeom prst="roundRect">
            <a:avLst>
              <a:gd name="adj" fmla="val 12903"/>
            </a:avLst>
          </a:prstGeom>
          <a:solidFill>
            <a:srgbClr val="0A6A5F"/>
          </a:solidFill>
          <a:ln w="12700">
            <a:solidFill>
              <a:srgbClr val="0A6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431536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答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481328" y="5431536"/>
            <a:ext cx="10067544" cy="566928"/>
          </a:xfrm>
          <a:prstGeom prst="roundRect">
            <a:avLst>
              <a:gd name="adj" fmla="val 12903"/>
            </a:avLst>
          </a:prstGeom>
          <a:solidFill>
            <a:srgbClr val="0A6A5F"/>
          </a:solidFill>
          <a:ln w="12700">
            <a:solidFill>
              <a:srgbClr val="0E8C7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82496" y="5431536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若在另一天再测到一次不低于 6.5% 的结果，则结论转为确诊。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40080" y="6089904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C8CA0"/>
                </a:solidFill>
                <a:latin typeface="Arial" pitchFamily="34" charset="0"/>
                <a:ea typeface="+mn-ea"/>
                <a:cs typeface="Arial" pitchFamily="34" charset="-120"/>
              </a:rPr>
              <a:t>关键在第 5 步：它可以自己决定探哪一项、探几步；但具体那个数字，它没有编造的权限。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40" kern="0" dirty="0">
                <a:solidFill>
                  <a:srgbClr val="0E8C7D"/>
                </a:solidFill>
                <a:latin typeface="Arial" pitchFamily="34" charset="0"/>
                <a:ea typeface="+mn-ea"/>
                <a:cs typeface="Arial" pitchFamily="34" charset="-120"/>
              </a:rPr>
              <a:t>五 · 真实样例（三）结果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一句结论，和它必须带着的三条红线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5C2"/>
                </a:solidFill>
                <a:latin typeface="Arial" pitchFamily="34" charset="0"/>
                <a:ea typeface="+mn-ea"/>
                <a:cs typeface="Arial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5C2"/>
                </a:solidFill>
                <a:latin typeface="Arial" pitchFamily="34" charset="0"/>
                <a:ea typeface="+mn-ea"/>
                <a:cs typeface="Arial" pitchFamily="34" charset="-120"/>
              </a:rPr>
              <a:t>08 / 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481328"/>
            <a:ext cx="10911535" cy="1207008"/>
          </a:xfrm>
          <a:prstGeom prst="roundRect">
            <a:avLst>
              <a:gd name="adj" fmla="val 7576"/>
            </a:avLst>
          </a:prstGeom>
          <a:solidFill>
            <a:srgbClr val="E4F3F0"/>
          </a:solidFill>
          <a:ln w="22225">
            <a:solidFill>
              <a:srgbClr val="0E8C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45920"/>
            <a:ext cx="102412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若在另一个检测日再测到一次不低于 6.5% 的糖化血红蛋白，</a:t>
            </a:r>
            <a:endParaRPr lang="en-US" sz="20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0A6A5F"/>
                </a:solidFill>
                <a:latin typeface="Arial" pitchFamily="34" charset="0"/>
                <a:ea typeface="+mn-ea"/>
                <a:cs typeface="Arial" pitchFamily="34" charset="-120"/>
              </a:rPr>
              <a:t>则该患者的诊断状态从“暂定”转为“确诊”。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2999232"/>
            <a:ext cx="3465576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9050">
            <a:solidFill>
              <a:srgbClr val="E5B2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3163824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860B"/>
                </a:solidFill>
                <a:latin typeface="Arial" pitchFamily="34" charset="0"/>
                <a:ea typeface="+mn-ea"/>
                <a:cs typeface="Arial" pitchFamily="34" charset="-120"/>
              </a:rPr>
              <a:t>这不是预测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3657600"/>
            <a:ext cx="29535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系统没有说他会不会真的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再测到那个数。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它只回答“如果测到，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结论会怎么变”。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61688" y="2999232"/>
            <a:ext cx="3465576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9050">
            <a:solidFill>
              <a:srgbClr val="E5B2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3163824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860B"/>
                </a:solidFill>
                <a:latin typeface="Arial" pitchFamily="34" charset="0"/>
                <a:ea typeface="+mn-ea"/>
                <a:cs typeface="Arial" pitchFamily="34" charset="-120"/>
              </a:rPr>
              <a:t>数字不是编的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17720" y="3657600"/>
            <a:ext cx="29535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6.5 原样取自知识库里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那条区间的下界，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并且注明了出处。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不是“差不多这个数”。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83296" y="2999232"/>
            <a:ext cx="3465576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9050">
            <a:solidFill>
              <a:srgbClr val="E5B2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9328" y="3163824"/>
            <a:ext cx="2953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860B"/>
                </a:solidFill>
                <a:latin typeface="Arial" pitchFamily="34" charset="0"/>
                <a:ea typeface="+mn-ea"/>
                <a:cs typeface="Arial" pitchFamily="34" charset="-120"/>
              </a:rPr>
              <a:t>结果可以复核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39328" y="3657600"/>
            <a:ext cx="295351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同一个问题问 5 次，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拿到 5 个一模一样的指纹。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指纹变了只有三种可能：</a:t>
            </a:r>
            <a:endParaRPr lang="en-US" sz="12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4576B"/>
                </a:solidFill>
                <a:latin typeface="Arial" pitchFamily="34" charset="0"/>
                <a:ea typeface="+mn-ea"/>
                <a:cs typeface="Arial" pitchFamily="34" charset="-120"/>
              </a:rPr>
              <a:t>假设变了、知识改了、规则改了。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559552"/>
            <a:ext cx="10911535" cy="512064"/>
          </a:xfrm>
          <a:prstGeom prst="roundRect">
            <a:avLst>
              <a:gd name="adj" fmla="val 14286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5559552"/>
            <a:ext cx="104543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1202F"/>
                </a:solidFill>
                <a:latin typeface="Arial" pitchFamily="34" charset="0"/>
                <a:ea typeface="+mn-ea"/>
                <a:cs typeface="Arial" pitchFamily="34" charset="-120"/>
              </a:rPr>
              <a:t>整个推演在一块临时的“沙盘”里跑完：真实数据库一个字都没有改。要多跑几遍都行。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40" kern="0" dirty="0">
                <a:solidFill>
                  <a:srgbClr val="3FC7B4"/>
                </a:solidFill>
                <a:latin typeface="Arial" pitchFamily="34" charset="0"/>
                <a:ea typeface="+mn-ea"/>
                <a:cs typeface="Arial" pitchFamily="34" charset="-120"/>
              </a:rPr>
              <a:t>最后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1153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它做什么，不做什么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632764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7E96"/>
                </a:solidFill>
                <a:latin typeface="Arial" pitchFamily="34" charset="0"/>
                <a:ea typeface="+mn-ea"/>
                <a:cs typeface="Arial" pitchFamily="34" charset="-120"/>
              </a:rPr>
              <a:t>DMO · Diabetes Ontology Agent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22815" y="63276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7E96"/>
                </a:solidFill>
                <a:latin typeface="Arial" pitchFamily="34" charset="0"/>
                <a:ea typeface="+mn-ea"/>
                <a:cs typeface="Arial" pitchFamily="34" charset="-120"/>
              </a:rPr>
              <a:t>09 / 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5276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40" kern="0" dirty="0">
                <a:solidFill>
                  <a:srgbClr val="3FC7B4"/>
                </a:solidFill>
                <a:latin typeface="Arial" pitchFamily="34" charset="0"/>
                <a:ea typeface="+mn-ea"/>
                <a:cs typeface="Arial" pitchFamily="34" charset="-120"/>
              </a:rPr>
              <a:t>它做的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5276088" cy="585216"/>
          </a:xfrm>
          <a:prstGeom prst="roundRect">
            <a:avLst>
              <a:gd name="adj" fmla="val 12500"/>
            </a:avLst>
          </a:prstGeom>
          <a:solidFill>
            <a:srgbClr val="14243D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2011680"/>
            <a:ext cx="48371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把医学指南整理成能查、能核对的知识网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706624"/>
            <a:ext cx="5276088" cy="585216"/>
          </a:xfrm>
          <a:prstGeom prst="roundRect">
            <a:avLst>
              <a:gd name="adj" fmla="val 12500"/>
            </a:avLst>
          </a:prstGeom>
          <a:solidFill>
            <a:srgbClr val="14243D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706624"/>
            <a:ext cx="48371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判断一次检查落在哪个区间、够不够确诊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401568"/>
            <a:ext cx="5276088" cy="585216"/>
          </a:xfrm>
          <a:prstGeom prst="roundRect">
            <a:avLst>
              <a:gd name="adj" fmla="val 12500"/>
            </a:avLst>
          </a:prstGeom>
          <a:solidFill>
            <a:srgbClr val="14243D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3401568"/>
            <a:ext cx="48371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把每个结论追回到规则、指南原句和原始那行记录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096512"/>
            <a:ext cx="5276088" cy="585216"/>
          </a:xfrm>
          <a:prstGeom prst="roundRect">
            <a:avLst>
              <a:gd name="adj" fmla="val 12500"/>
            </a:avLst>
          </a:prstGeom>
          <a:solidFill>
            <a:srgbClr val="14243D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4096512"/>
            <a:ext cx="48371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明确说出“现在判不了，缺的是什么”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72784" y="1554480"/>
            <a:ext cx="5276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40" kern="0" dirty="0">
                <a:solidFill>
                  <a:srgbClr val="E5B23C"/>
                </a:solidFill>
                <a:latin typeface="Arial" pitchFamily="34" charset="0"/>
                <a:ea typeface="+mn-ea"/>
                <a:cs typeface="Arial" pitchFamily="34" charset="-120"/>
              </a:rPr>
              <a:t>它不做的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72784" y="2011680"/>
            <a:ext cx="5276088" cy="585216"/>
          </a:xfrm>
          <a:prstGeom prst="roundRect">
            <a:avLst>
              <a:gd name="adj" fmla="val 12500"/>
            </a:avLst>
          </a:prstGeom>
          <a:solidFill>
            <a:srgbClr val="14243D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011680"/>
            <a:ext cx="48371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不给药，不给剂量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72784" y="2706624"/>
            <a:ext cx="5276088" cy="585216"/>
          </a:xfrm>
          <a:prstGeom prst="roundRect">
            <a:avLst>
              <a:gd name="adj" fmla="val 12500"/>
            </a:avLst>
          </a:prstGeom>
          <a:solidFill>
            <a:srgbClr val="14243D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706624"/>
            <a:ext cx="48371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不给概率，不预测多久会怎样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72784" y="3401568"/>
            <a:ext cx="5276088" cy="585216"/>
          </a:xfrm>
          <a:prstGeom prst="roundRect">
            <a:avLst>
              <a:gd name="adj" fmla="val 12500"/>
            </a:avLst>
          </a:prstGeom>
          <a:solidFill>
            <a:srgbClr val="14243D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401568"/>
            <a:ext cx="48371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不替代医生，也不是医疗器械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72784" y="4096512"/>
            <a:ext cx="5276088" cy="585216"/>
          </a:xfrm>
          <a:prstGeom prst="roundRect">
            <a:avLst>
              <a:gd name="adj" fmla="val 12500"/>
            </a:avLst>
          </a:prstGeom>
          <a:solidFill>
            <a:srgbClr val="14243D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096512"/>
            <a:ext cx="48371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+mn-ea"/>
                <a:cs typeface="Arial" pitchFamily="34" charset="-120"/>
              </a:rPr>
              <a:t>不用没有依据的评分和百分比包装自己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502920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FC7B4"/>
                </a:solidFill>
                <a:latin typeface="Arial" pitchFamily="34" charset="0"/>
                <a:ea typeface="+mn-ea"/>
                <a:cs typeface="Arial" pitchFamily="34" charset="-120"/>
              </a:rPr>
              <a:t>少生成一点，多核对一点。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640080" y="5742432"/>
            <a:ext cx="5120640" cy="457200"/>
          </a:xfrm>
          <a:prstGeom prst="roundRect">
            <a:avLst>
              <a:gd name="adj" fmla="val 20000"/>
            </a:avLst>
          </a:prstGeom>
          <a:solidFill>
            <a:srgbClr val="0A1526"/>
          </a:solidFill>
          <a:ln w="12700">
            <a:solidFill>
              <a:srgbClr val="2B3F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74243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A4BC"/>
                </a:solidFill>
                <a:latin typeface="Arial" pitchFamily="34" charset="0"/>
                <a:ea typeface="+mn-ea"/>
                <a:cs typeface="Arial" pitchFamily="34" charset="-120"/>
              </a:rPr>
              <a:t>技术验证 / 学习项目  ·  Not a Medical Device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49440" y="5029200"/>
            <a:ext cx="45994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3A4BC"/>
                </a:solidFill>
                <a:latin typeface="Arial" pitchFamily="34" charset="0"/>
                <a:ea typeface="+mn-ea"/>
                <a:cs typeface="Arial" pitchFamily="34" charset="-120"/>
              </a:rPr>
              <a:t>这不是一个已经完成的医疗智能体，</a:t>
            </a:r>
            <a:endParaRPr lang="en-US" sz="1300" dirty="0"/>
          </a:p>
          <a:p>
            <a:pPr algn="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3A4BC"/>
                </a:solidFill>
                <a:latin typeface="Arial" pitchFamily="34" charset="0"/>
                <a:ea typeface="+mn-ea"/>
                <a:cs typeface="Arial" pitchFamily="34" charset="-120"/>
              </a:rPr>
              <a:t>而是一套让未来的智能体</a:t>
            </a:r>
            <a:endParaRPr lang="en-US" sz="1300" dirty="0"/>
          </a:p>
          <a:p>
            <a:pPr algn="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3A4BC"/>
                </a:solidFill>
                <a:latin typeface="Arial" pitchFamily="34" charset="0"/>
                <a:ea typeface="+mn-ea"/>
                <a:cs typeface="Arial" pitchFamily="34" charset="-120"/>
              </a:rPr>
              <a:t>更少越过证据边界的底座。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Diabetes Ontology Agent — 可构建 · 可推理 · 可追溯</dc:title>
  <dc:subject>PptxGenJS Presentation</dc:subject>
  <dc:creator>Diabetes Ontology Agent</dc:creator>
  <cp:lastModifiedBy>Diabetes Ontology Agent</cp:lastModifiedBy>
  <cp:revision>1</cp:revision>
  <dcterms:created xsi:type="dcterms:W3CDTF">2026-08-24T02:06:03Z</dcterms:created>
  <dcterms:modified xsi:type="dcterms:W3CDTF">2026-08-24T02:06:03Z</dcterms:modified>
</cp:coreProperties>
</file>