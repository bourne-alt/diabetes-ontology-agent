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703ced2ca2453f" /><Relationship Type="http://schemas.openxmlformats.org/officeDocument/2006/relationships/extended-properties" Target="/docProps/app.xml" Id="R3bbb4c4dca9b41fe" /><Relationship Type="http://schemas.openxmlformats.org/officeDocument/2006/relationships/officeDocument" Target="/ppt/presentation.xml" Id="R7b8139a1131f41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eb4ef5d2d34646"/>
  </p:sldMasterIdLst>
  <p:notesMasterIdLst>
    <p:notesMasterId xmlns:r="http://schemas.openxmlformats.org/officeDocument/2006/relationships" r:id="R8b63aeea7e944e38"/>
  </p:notesMasterIdLst>
  <p:sldIdLst>
    <p:sldId xmlns:r="http://schemas.openxmlformats.org/officeDocument/2006/relationships" id="256" r:id="R327a61b639754166"/>
    <p:sldId xmlns:r="http://schemas.openxmlformats.org/officeDocument/2006/relationships" id="257" r:id="R2b5a27b9502a49d0"/>
    <p:sldId xmlns:r="http://schemas.openxmlformats.org/officeDocument/2006/relationships" id="258" r:id="R20826f3499cc4b4e"/>
    <p:sldId xmlns:r="http://schemas.openxmlformats.org/officeDocument/2006/relationships" id="259" r:id="Rfdf5cc2e7eee4bb4"/>
    <p:sldId xmlns:r="http://schemas.openxmlformats.org/officeDocument/2006/relationships" id="260" r:id="Rf5ad66cbd2b54919"/>
    <p:sldId xmlns:r="http://schemas.openxmlformats.org/officeDocument/2006/relationships" id="261" r:id="R9fadef4968db4e9d"/>
    <p:sldId xmlns:r="http://schemas.openxmlformats.org/officeDocument/2006/relationships" id="262" r:id="Ref4dfd311a0a44a6"/>
    <p:sldId xmlns:r="http://schemas.openxmlformats.org/officeDocument/2006/relationships" id="263" r:id="R31e50cfafa034547"/>
    <p:sldId xmlns:r="http://schemas.openxmlformats.org/officeDocument/2006/relationships" id="264" r:id="R08c68974e4a74805"/>
    <p:sldId xmlns:r="http://schemas.openxmlformats.org/officeDocument/2006/relationships" id="265" r:id="R70799a8b91fc47d1"/>
    <p:sldId xmlns:r="http://schemas.openxmlformats.org/officeDocument/2006/relationships" id="266" r:id="R8a500cdf82db49f9"/>
    <p:sldId xmlns:r="http://schemas.openxmlformats.org/officeDocument/2006/relationships" id="267" r:id="Redc100002c82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12a218287a4168" /><Relationship Type="http://schemas.openxmlformats.org/officeDocument/2006/relationships/slideMaster" Target="/ppt/slideMasters/slideMaster1.xml" Id="Rbeeb4ef5d2d34646" /><Relationship Type="http://schemas.openxmlformats.org/officeDocument/2006/relationships/notesMaster" Target="/ppt/notesMasters/notesMaster1.xml" Id="R8b63aeea7e944e38" /><Relationship Type="http://schemas.openxmlformats.org/officeDocument/2006/relationships/presProps" Target="/ppt/presProps.xml" Id="R1b3fe75cc61343b7" /><Relationship Type="http://schemas.openxmlformats.org/officeDocument/2006/relationships/viewProps" Target="/ppt/viewProps.xml" Id="Rbd0d783476a44a7e" /><Relationship Type="http://schemas.openxmlformats.org/officeDocument/2006/relationships/tableStyles" Target="/ppt/tableStyles.xml" Id="R969532763503498a" /><Relationship Type="http://schemas.openxmlformats.org/officeDocument/2006/relationships/slide" Target="/ppt/slides/slide1.xml" Id="R327a61b639754166" /><Relationship Type="http://schemas.openxmlformats.org/officeDocument/2006/relationships/slide" Target="/ppt/slides/slide2.xml" Id="R2b5a27b9502a49d0" /><Relationship Type="http://schemas.openxmlformats.org/officeDocument/2006/relationships/slide" Target="/ppt/slides/slide3.xml" Id="R20826f3499cc4b4e" /><Relationship Type="http://schemas.openxmlformats.org/officeDocument/2006/relationships/slide" Target="/ppt/slides/slide4.xml" Id="Rfdf5cc2e7eee4bb4" /><Relationship Type="http://schemas.openxmlformats.org/officeDocument/2006/relationships/slide" Target="/ppt/slides/slide5.xml" Id="Rf5ad66cbd2b54919" /><Relationship Type="http://schemas.openxmlformats.org/officeDocument/2006/relationships/slide" Target="/ppt/slides/slide6.xml" Id="R9fadef4968db4e9d" /><Relationship Type="http://schemas.openxmlformats.org/officeDocument/2006/relationships/slide" Target="/ppt/slides/slide7.xml" Id="Ref4dfd311a0a44a6" /><Relationship Type="http://schemas.openxmlformats.org/officeDocument/2006/relationships/slide" Target="/ppt/slides/slide8.xml" Id="R31e50cfafa034547" /><Relationship Type="http://schemas.openxmlformats.org/officeDocument/2006/relationships/slide" Target="/ppt/slides/slide9.xml" Id="R08c68974e4a74805" /><Relationship Type="http://schemas.openxmlformats.org/officeDocument/2006/relationships/slide" Target="/ppt/slides/slide10.xml" Id="R70799a8b91fc47d1" /><Relationship Type="http://schemas.openxmlformats.org/officeDocument/2006/relationships/slide" Target="/ppt/slides/slide11.xml" Id="R8a500cdf82db49f9" /><Relationship Type="http://schemas.openxmlformats.org/officeDocument/2006/relationships/slide" Target="/ppt/slides/slide12.xml" Id="Redc100002c82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4801ee95524a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1f47c3c4554c67" /><Relationship Type="http://schemas.openxmlformats.org/officeDocument/2006/relationships/notesMaster" Target="/ppt/notesMasters/notesMaster1.xml" Id="R9d4b5eb624f842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25b1c56d644553" /><Relationship Type="http://schemas.openxmlformats.org/officeDocument/2006/relationships/notesMaster" Target="/ppt/notesMasters/notesMaster1.xml" Id="R070b4009847e42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3ff7a6f517466b" /><Relationship Type="http://schemas.openxmlformats.org/officeDocument/2006/relationships/notesMaster" Target="/ppt/notesMasters/notesMaster1.xml" Id="R70c2fc983daa49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997184523a46c3" /><Relationship Type="http://schemas.openxmlformats.org/officeDocument/2006/relationships/notesMaster" Target="/ppt/notesMasters/notesMaster1.xml" Id="Ree8e2cf44ce34b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4865944e8c4c9b" /><Relationship Type="http://schemas.openxmlformats.org/officeDocument/2006/relationships/notesMaster" Target="/ppt/notesMasters/notesMaster1.xml" Id="R257c0e35813c48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f0061ebb0443b5" /><Relationship Type="http://schemas.openxmlformats.org/officeDocument/2006/relationships/notesMaster" Target="/ppt/notesMasters/notesMaster1.xml" Id="R161fbd39f7d847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4ac2d538bc41d6" /><Relationship Type="http://schemas.openxmlformats.org/officeDocument/2006/relationships/notesMaster" Target="/ppt/notesMasters/notesMaster1.xml" Id="Re7c27685580f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c846736b5f4221" /><Relationship Type="http://schemas.openxmlformats.org/officeDocument/2006/relationships/notesMaster" Target="/ppt/notesMasters/notesMaster1.xml" Id="R0db7222b350e45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931a6e1eb485b" /><Relationship Type="http://schemas.openxmlformats.org/officeDocument/2006/relationships/notesMaster" Target="/ppt/notesMasters/notesMaster1.xml" Id="R0ed6c74c5ff74b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a7a4d237754f66" /><Relationship Type="http://schemas.openxmlformats.org/officeDocument/2006/relationships/notesMaster" Target="/ppt/notesMasters/notesMaster1.xml" Id="R0d884fd4ba4646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cc216ca1de4820" /><Relationship Type="http://schemas.openxmlformats.org/officeDocument/2006/relationships/notesMaster" Target="/ppt/notesMasters/notesMaster1.xml" Id="R08331cd7e00d44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bed92121c344b1" /><Relationship Type="http://schemas.openxmlformats.org/officeDocument/2006/relationships/notesMaster" Target="/ppt/notesMasters/notesMaster1.xml" Id="Rc39d9b025c814b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开场不要讲技术。用三样东西把系统说清：一个整理过的知识书架、一个病历柜、一个只会照着查的助手。
重点是最后那句话：这套系统追求的不是回答更多，而是每个回答都能被现场核对。后面每一页都在拆解这句话怎么落地。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不要陷进表结构。只讲两个仓库各自擅长什么。
关系型数据库擅长筛人、翻页、对账，存的是一行行原始记录，按干净程度分层——没清洗的只能溯源，清洗过的才准参与判定，演示数据绝不和真实数据算进同一个数字。
图数据库擅长回答关系问题，按抽屉分开存：概念骨架、人工写的切点、指南出处、AI 摘的条目、每位患者一张图，还有单独一格放“规则算出来的结论”。
最后那句是这一页的记忆点：表库回答是什么，图库回答凭什么。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这一页要纠正一个常见的想象：不是“把问题丢给模型，模型想一想就答了”。
顺序是有原因的。先在表库里把人锁定，是因为在整张关系网里全库扫描既慢又容易牵连无关的人。第二步的翻译和体检是关口——单位不对、数值不可信，流程在这里就停，不会硬给结论。第三步才让规则判，判定由规则做，不由模型做。第四步把结论和它的依据拼在一起。
最后交出来的是四件东西，不是一句话。尤其是第四件“还缺什么”——大多数系统不会主动告诉你这个。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就是 Reason 加 Act：想一步、做一步、看一眼结果，再决定下一步。和“把问题丢给模型让它一口气答完”是两回事。
右边五条护栏才是重点。没有护栏的 ReAct 会变成“一直换个说法试，直到试出想要的答案”。所以：先检查两个库通不通；按问题类型分层走；从现成接口开始，自由查询放最后；术语查不到就记账不猜；每个目标有调用预算，用完就报“没推出来”。
要主动说明：这个助手本身在仓库外，仓库提供的是行动手册和工具，没有内置对话模型。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就是 Reason 加 Act：想一步、做一步、看一眼结果，再决定下一步。和“把问题丢给模型让它一口气答完”是两回事。
右边五条护栏才是重点。没有护栏的 ReAct 会变成“一直换个说法试，直到试出想要的答案”。所以：先检查两个库通不通；按问题类型分层走；从现成接口开始，自由查询放最后；术语查不到就记账不猜；每个目标有调用预算，用完就报“没推出来”。
要主动说明：这个助手本身在仓库外，仓库提供的是行动手册和工具，没有内置对话模型。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先让听众看懂这一步，后面的推演才有意义。
7.4% 确实落进了糖尿病区间——但落进区间只是完成了“这一次检验属于哪个区间”这件事。要形成确诊，规则还要求两个不同的检测日期。P90002 只测了一天，所以是暂定。
补一句容易被忽略的细节：同一天重复测两次也不能升级，因为规则数的是不同日期，不是结果条数。
这一页的记忆点：“数落进区间”和“人确诊了”，不是同一句话。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沿着七行念下来就是完整的 ReAct 过程：想、做、看、想、做、看、答。
第 3 步值得停一下：系统直接返回“还差什么”，助手不用自己猜差距在哪。
第 5 步是整页的重点，也是这套设计最克制的地方——助手可以自主决定探哪个项目、探几步、按什么顺序，但具体数值只有两个合法来源：用户明确给出，或者原样取自知识库里那条区间的端点，并且必须注明这个数的出身。取中点、微调、“典型值”，全部禁止，因为那些数是编的。
第 7 步必须保持“若……则……”的句式，不能说成“他已经确诊了”。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结论必须保持“若……则……”的形式念出来，一旦说成“他确诊了”，这一页就白做了。
三条红线逐条讲：
第一，这不是预测。系统不回答“他会不会”，只回答“如果，那么”。
第二，6.5 不是拍脑袋，是原样取自那条区间的下界，而且要注明出身——用了知识库的数就得说清是知识库的数。
第三，可复核。同一个问题问五次得到五个一样的指纹，这是和纯生成式回答最硬的一条差别。
最后强调沙盘：推演不写真实数据库，结构上就没有写入路径。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收尾要把边界说完整，这一页本身就是可信度的一部分。
左边是它真能做的四件事；右边是它明确不做的四件事——不给药、不给概率、不替代医生、不用没有依据的数字包装自己。
最后一句回扣全场：少生成一点，多核对一点。以及定位——这不是一个已经完成的医疗智能体，而是一套让未来的智能体更少越过证据边界的底座。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3df44c0ea46a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ab7e28e71b436e" /><Relationship Type="http://schemas.openxmlformats.org/officeDocument/2006/relationships/slideLayout" Target="/ppt/slideLayouts/slideLayout1.xml" Id="R930d6a7b6d2543a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0d6a7b6d2543a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d8528012343b9" /><Relationship Type="http://schemas.openxmlformats.org/officeDocument/2006/relationships/notesSlide" Target="/ppt/notesSlides/notesSlide1.xml" Id="R7437f5121c7e49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b6df6aa244843" /><Relationship Type="http://schemas.openxmlformats.org/officeDocument/2006/relationships/notesSlide" Target="/ppt/notesSlides/notesSlide2.xml" Id="Rf5b83417465941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c0334caa848df" /><Relationship Type="http://schemas.openxmlformats.org/officeDocument/2006/relationships/notesSlide" Target="/ppt/notesSlides/notesSlide3.xml" Id="Raaf6365cf8dc40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45cd124b34210" /><Relationship Type="http://schemas.openxmlformats.org/officeDocument/2006/relationships/notesSlide" Target="/ppt/notesSlides/notesSlide4.xml" Id="R2a7a843938a44b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f05788f1d4ffd" /><Relationship Type="http://schemas.openxmlformats.org/officeDocument/2006/relationships/notesSlide" Target="/ppt/notesSlides/notesSlide5.xml" Id="R490beea47d5248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9e12dc7244856" /><Relationship Type="http://schemas.openxmlformats.org/officeDocument/2006/relationships/notesSlide" Target="/ppt/notesSlides/notesSlide6.xml" Id="R02e23d41296c48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2287d0780485d" /><Relationship Type="http://schemas.openxmlformats.org/officeDocument/2006/relationships/notesSlide" Target="/ppt/notesSlides/notesSlide7.xml" Id="R78543350558646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505f118ca4b8d" /><Relationship Type="http://schemas.openxmlformats.org/officeDocument/2006/relationships/notesSlide" Target="/ppt/notesSlides/notesSlide8.xml" Id="R556ea093050148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3a3c7d0b94186" /><Relationship Type="http://schemas.openxmlformats.org/officeDocument/2006/relationships/notesSlide" Target="/ppt/notesSlides/notesSlide9.xml" Id="Rb768030edec944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2ffb550a243ec" /><Relationship Type="http://schemas.openxmlformats.org/officeDocument/2006/relationships/notesSlide" Target="/ppt/notesSlides/notesSlide10.xml" Id="R514473b2687b49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a4a4f637f4aca" /><Relationship Type="http://schemas.openxmlformats.org/officeDocument/2006/relationships/notesSlide" Target="/ppt/notesSlides/notesSlide11.xml" Id="R5eede107091c4e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fb4dc366647e8" /><Relationship Type="http://schemas.openxmlformats.org/officeDocument/2006/relationships/notesSlide" Target="/ppt/notesSlides/notesSlide12.xml" Id="R9048a9e8772b46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E49C51-DF27-497F-B99E-7064C3E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786384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9050">
            <a:solidFill>
              <a:srgbClr val="3FC7B4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671907-8ECF-4E9F-B113-71D56F1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7863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 spc="60">
                <a:solidFill>
                  <a:srgbClr val="3FC7B4"/>
                </a:solidFill>
                <a:latin typeface="Arial"/>
                <a:ea typeface="Arial"/>
                <a:cs typeface="Arial"/>
              </a:rPr>
              <a:t>DMO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F17A1C-B6EC-4469-8461-B9232351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822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Diabetes Ontology Agent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84D379-71CE-4250-A814-3378072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133856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糖尿病本体知识库 × 患者事实库 × 证据型智能体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9A8D6A-40FF-49DD-912F-6F449E77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6309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58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 AI 说的每一句话</a:t>
            </a:r>
            <a:endParaRPr sz="4600"/>
          </a:p>
          <a:p xmlns:a="http://schemas.openxmlformats.org/drawingml/2006/main">
            <a:pPr marL="0" indent="0" algn="l">
              <a:lnSpc>
                <a:spcPts val="58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都能查到出处</a:t>
            </a:r>
            <a:endParaRPr sz="4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F0FCE46-01D5-48BE-960F-6F33BE5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6309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400"/>
              </a:lnSpc>
              <a:buNone/>
            </a:pPr>
            <a:r>
              <a:rPr sz="15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把医学指南整理成机器能查的知识网，</a:t>
            </a:r>
            <a:endParaRPr sz="1500"/>
          </a:p>
          <a:p xmlns:a="http://schemas.openxmlformats.org/drawingml/2006/main">
            <a:pPr marL="0" indent="0" algn="l">
              <a:lnSpc>
                <a:spcPts val="2400"/>
              </a:lnSpc>
              <a:buNone/>
            </a:pPr>
            <a:r>
              <a:rPr sz="1500">
                <a:solidFill>
                  <a:srgbClr val="93A4BC"/>
                </a:solidFill>
                <a:latin typeface="Arial"/>
                <a:ea typeface="Arial"/>
                <a:cs typeface="Arial"/>
              </a:rPr>
              <a:t>让智能体只能照着证据回答——查不到，就老实说查不到。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B3F400-70E9-4D50-873B-521534E4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51206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66D89E-FF3B-40B3-BA6B-6DC65CE5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5120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技术验证 / 学习项目  ·  Not a Medical Device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B486962-AAFB-4CA9-A089-AA4EB383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72768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3ECF3C-EB46-40F1-95B1-325C46E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618488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这个人测了什么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07CB33-2089-47F1-97A9-AF31A48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005279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原始检查记录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07C2A5-8D7E-4F57-8443-E893086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59152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C60EA43-8C7F-4BDC-810E-A6EA0B2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06624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7F7E895-1173-4218-AC18-5D874215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752344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这个数字可信吗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3986E1F-2BC9-4EB3-9AF7-BFEE801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39135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单位 · 可信度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09A743F-7012-4D8D-88F7-A9C0E47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93008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BC88EB3-DC03-43C5-99ED-3201253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840480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16B37DF-D4BF-4636-B0BC-3F08AA7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886200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指南怎么说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BD85F80-6226-4101-9A0B-46DE4DF0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272991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切点 · 原文出处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DE8A056-429A-4F82-8A33-B4C94CC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6864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B31D4E5-0C7F-4CCD-8946-BDA8BB9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974336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D7DA9D8-4288-4F8A-BE4C-9F8FB59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020056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结论 + 出处 + 还缺什么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7DC4D69-E2A7-4F8B-9E51-4A4FCDF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406847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BFE8E1"/>
                </a:solidFill>
                <a:latin typeface="Arial"/>
                <a:ea typeface="Arial"/>
                <a:cs typeface="Arial"/>
              </a:rPr>
              <a:t>可核查的答案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25408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FAC0FD-867B-4A99-A64F-58A3F107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先说清楚这是什么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E974B6-9F61-4BAA-8FAA-1E8D1C67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它是给 AI 用的“查证工具”，不是会看病的 AI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217259-FE92-4AAD-9FAF-C6290757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954DBD-408F-4E8B-9130-02A95FE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01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92CF04E-808D-4369-8FF5-4214C34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7A26B1D-D7DA-43AF-A335-84397F6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81328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把它想成三样东西凑在一起：一个整理过的书架、一个病历柜，和一个只会照着查、不许自己编的助手。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D59D010-5295-48BE-A23D-8C466732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DDB67EF-1A89-4AE9-84D7-2295A1D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0592"/>
            <a:ext cx="914400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D6CC090-7BAD-4D8F-8C29-F9D37AFE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51760"/>
            <a:ext cx="768096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9A106B-4EE3-4A19-A5CE-22F5B2A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52928"/>
            <a:ext cx="621792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DC3C85-C973-4941-BD23-8249E020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知识书架</a:t>
            </a:r>
            <a:endParaRPr sz="2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FD10B1-5643-46BF-A45F-CA3E0EAE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Knowledge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0D4EF01-AB96-493A-BE0B-C5540FC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一本整理过的糖尿病知识库。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每一条数值、每一句建议，都标着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出自哪份指南的哪一句原话。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BFAFBE-E452-455A-9FA8-C435348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7009D02-3018-4CC7-B8DF-C85B2FD9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432304"/>
            <a:ext cx="914400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C7D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20E384A-2AE2-4174-85A7-0E0FCD10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606040"/>
            <a:ext cx="658368" cy="7315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3A602A1-E53E-496E-87C8-00C19D5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807208"/>
            <a:ext cx="658368" cy="7315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86A21D-1316-48C0-B2C5-1231F9FB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病历柜</a:t>
            </a:r>
            <a:endParaRPr sz="2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ACE63E7-EA84-4AF9-88DE-AAC7EA4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Patient Facts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E509FF-17E9-4C3D-845A-6EB8A82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这位患者真实的检查记录。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哪天测的、用什么单位、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这个数字可不可信，都记着。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6ECB339-C029-4B38-A97F-8C78FB1E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159EEA4-A07D-4A68-95B7-253B904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9572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8C7D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4BA024-EA35-4E53-A57B-45BC28DD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89504"/>
            <a:ext cx="27432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8C7D"/>
            </a:solidFill>
            <a:prstDash val="solid"/>
            <a:headEnd type="none"/>
            <a:tailEnd type="non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30E4C4F-6A97-431B-9A04-D61828F5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查证助手</a:t>
            </a:r>
            <a:endParaRPr sz="2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2E7CB1F-D62D-4265-A82A-EAE45E20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Agent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367C468-0F04-4C1C-B50D-F4411D09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会翻书、会翻病历，但不许自己编。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查不到就说查不到，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判不了就说清楚为什么判不了。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A4E8B5-5D74-448B-B6AE-8FA24032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10911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它的价值不是“多回答几个问题”，而是“每个回答都能被人当场核对”。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76269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2BE32D-EC47-41EF-9924-0F9244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总体架构 · 一次回答如何被验证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1896B-2B88-412A-B2D3-DBF1A71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四层协作，让每个结论都能回到事实与来源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FE00D-2017-408B-AFAD-198E579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ED2E7-0CAA-40AC-9AD0-F8172BB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02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5C0A72-DEB1-4D6F-961D-2197B8E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BAA658-C18F-4550-ACAE-A6FBC4F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问题进入系统后，智能体只负责编排；事实核验、规则推理与证据回溯，都由确定性服务完成。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043E3-DC66-43F4-8508-F91D9BF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交互与编排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954363E-9E9F-49C4-A701-8049DDC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能力调用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155A6E-AF42-4AC5-8DAD-4B3BB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B8860B"/>
                </a:solidFill>
                <a:latin typeface="Arial"/>
                <a:ea typeface="Arial"/>
                <a:cs typeface="Arial"/>
              </a:rPr>
              <a:t>证据融合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09E4F-37C2-46B1-938B-359DFC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双库底座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A1486E-8833-40A5-859E-5DE9E2F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06185C-7EEB-46AF-8E92-A07BCD0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用户问题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F1935-B578-4CAA-956E-A37957C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自然语言提出任务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4B37E9-AD41-455D-8A89-793C2D7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C4F6B3-A657-4500-9F94-4AEB9B6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Agent 编排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A85778-CC8F-4577-8B74-A04B415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选择 Skill，不直接判断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C7282E-F2C8-4C67-8FEA-DDA3F3E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1E4CED-F6AB-45BF-A3A5-557DD1D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Skills / Tools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015BFE-F1DC-4E2C-81EB-FA247C2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查询 · 推演 · 溯源 · 裁决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DE4331-B856-424B-99BA-D1B288B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221C43-6DFB-444D-AC45-B5F2B83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FastAPI / CLI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AC84A9-6270-459A-843E-8DD5AD9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稳定接口，统一返回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033FC9A-DED3-470B-9437-E45A9CA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80AB4-3459-4A12-BA95-64EFC4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安全边界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148D7A-9326-4C31-BF86-6417425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不猜测；证据不足就停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3CB84E-08B3-4294-837D-5E98BD1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482A75-DC2C-437D-924E-6D6FAA4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SQL 收敛患者集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38FB37-2BD3-4B5C-A938-B424F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先缩小事实范围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77722E-4D5A-4568-ABFE-A19C93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ED8AA1-1CF2-4B1A-B077-2F738F0E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SPARQL 语义推理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1ABFBD5-9016-4B9E-9485-14CA0DF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本体 + 规则给出结论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11FE27-FD64-4FC7-8680-72508E1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13222A-0DA5-4320-842D-91B5918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证据回拼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5CB821-0C39-4275-AF3A-F322641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source_pk 回到原始记录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974114-5791-4E88-8573-165B92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EBD75C-1857-40F1-A809-2012D64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PostgreSQL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5FE3DCC-381F-4C07-B1A2-0166EA5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患者事实 · 单位 · 时间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9BE983B-477A-4963-8A53-04F7E29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378BACA-B28A-47A4-A9DA-2CB041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GraphDB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4E177C1-D56C-4846-A301-438DF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本体 · 规则 · 来源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091AEC6-54A3-4408-8C84-26B7535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91902F-E223-4C14-AC5C-32FBC5F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7DC12F8-93CA-4249-A65B-772AE63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9DF2598-A4CD-4FA6-8DF0-CB240C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56048"/>
            <a:ext cx="52120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9EBE9"/>
          </a:solidFill>
          <a:ln xmlns:a="http://schemas.openxmlformats.org/drawingml/2006/main" w="12700">
            <a:solidFill>
              <a:srgbClr val="F9EBE9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F4DBE6B-D4E4-4D26-AA48-8DBF640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956048"/>
            <a:ext cx="2651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A93B30"/>
                </a:solidFill>
                <a:latin typeface="Arial"/>
                <a:ea typeface="Arial"/>
                <a:cs typeface="Arial"/>
              </a:rPr>
              <a:t>LLM 负责理解与编排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99F7623-6F2B-4C3C-8A80-3C1DE7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60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3B30"/>
                </a:solidFill>
                <a:latin typeface="Arial"/>
                <a:ea typeface="Arial"/>
                <a:cs typeface="Arial"/>
              </a:rPr>
              <a:t>临床结论不由模型自由生成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2D0508-7D99-4863-A055-731BF60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05856"/>
            <a:ext cx="10911535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8FF2491-A4BC-46CC-A32D-8700D4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05856"/>
            <a:ext cx="105091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返回“证据收据”：结论状态 · 规则依据 · 来源 · 原始事实 · 证据缺口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733670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2BE32D-EC47-41EF-9924-0F9244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本体提取工作流 · 从原文到可执行知识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1896B-2B88-412A-B2D3-DBF1A71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候选可以自动抽取，知识入库必须经过门禁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FE00D-2017-408B-AFAD-198E579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ED2E7-0CAA-40AC-9AD0-F8172BB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03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5C0A72-DEB1-4D6F-961D-2197B8E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BAA658-C18F-4550-ACAE-A6FBC4F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资料登记、候选抽取、人工复核、结构校验和装载验收彼此分离；模型不直接写入高风险规则。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043E3-DC66-43F4-8508-F91D9BF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输入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954363E-9E9F-49C4-A701-8049DDC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语义抽取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155A6E-AF42-4AC5-8DAD-4B3BB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B8860B"/>
                </a:solidFill>
                <a:latin typeface="Arial"/>
                <a:ea typeface="Arial"/>
                <a:cs typeface="Arial"/>
              </a:rPr>
              <a:t>质量门禁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09E4F-37C2-46B1-938B-359DFC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发布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A1486E-8833-40A5-859E-5DE9E2F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06185C-7EEB-46AF-8E92-A07BCD0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领域模型 JSON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F1935-B578-4CAA-956E-A37957C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概念 · 关系 · Schema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4B37E9-AD41-455D-8A89-793C2D7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C4F6B3-A657-4500-9F94-4AEB9B6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指南与资料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A85778-CC8F-4577-8B74-A04B415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原文 · 版本 · 来源哈希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C7282E-F2C8-4C67-8FEA-DDA3F3E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1E4CED-F6AB-45BF-A3A5-557DD1D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登记来源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015BFE-F1DC-4E2C-81EB-FA247C2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记录文件指纹与版本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DE4331-B856-424B-99BA-D1B288B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221C43-6DFB-444D-AC45-B5F2B83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按 Schema 抽取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AC84A9-6270-459A-843E-8DD5AD9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概念 · 关系 · 引文候选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033FC9A-DED3-470B-9437-E45A9CA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80AB4-3459-4A12-BA95-64EFC4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人工审高危项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148D7A-9326-4C31-BF86-6417425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阈值 · 禁忌 · 规则边界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3CB84E-08B3-4294-837D-5E98BD1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482A75-DC2C-437D-924E-6D6FAA4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SHACL 结构校验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38FB37-2BD3-4B5C-A938-B424F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字段与关系必须完整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77722E-4D5A-4568-ABFE-A19C93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ED8AA1-1CF2-4B1A-B077-2F738F0E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引文逐字核对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1ABFBD5-9016-4B9E-9485-14CA0DF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quote + sha256 回到原文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11FE27-FD64-4FC7-8680-72508E1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13222A-0DA5-4320-842D-91B5918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装载后验收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5CB821-0C39-4275-AF3A-F322641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查询 · 规则 · 命名图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974114-5791-4E88-8573-165B92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EBD75C-1857-40F1-A809-2012D64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OWL / RDF 本体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5FE3DCC-381F-4C07-B1A2-0166EA5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概念 · 关系 · 来源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9BE983B-477A-4963-8A53-04F7E29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378BACA-B28A-47A4-A9DA-2CB041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SPARQL / SHACL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4E177C1-D56C-4846-A301-438DF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规则 · 约束 · 可验证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091AEC6-54A3-4408-8C84-26B7535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91902F-E223-4C14-AC5C-32FBC5F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7DC12F8-93CA-4249-A65B-772AE63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9DF2598-A4CD-4FA6-8DF0-CB240C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56048"/>
            <a:ext cx="52120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9EBE9"/>
          </a:solidFill>
          <a:ln xmlns:a="http://schemas.openxmlformats.org/drawingml/2006/main" w="12700">
            <a:solidFill>
              <a:srgbClr val="F9EBE9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F4DBE6B-D4E4-4D26-AA48-8DBF640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956048"/>
            <a:ext cx="2651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A93B30"/>
                </a:solidFill>
                <a:latin typeface="Arial"/>
                <a:ea typeface="Arial"/>
                <a:cs typeface="Arial"/>
              </a:rPr>
              <a:t>LLM 只产候选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99F7623-6F2B-4C3C-8A80-3C1DE7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60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3B30"/>
                </a:solidFill>
                <a:latin typeface="Arial"/>
                <a:ea typeface="Arial"/>
                <a:cs typeface="Arial"/>
              </a:rPr>
              <a:t>高风险知识必须人工确认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2D0508-7D99-4863-A055-731BF60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05856"/>
            <a:ext cx="10911535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8FF2491-A4BC-46CC-A32D-8700D4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05856"/>
            <a:ext cx="105091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进入 GraphDB 前同时通过四道检查：结构 · 来源 · 规则 · 装载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733670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7A6A06-6525-4D4C-97DC-9E226EAC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二 · 数据存在哪里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A147AB-5E9E-4936-842A-BF82BBA0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两个仓库，各存各的，绝不混在一起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40E332-468E-4AB2-97DE-B6E3B5A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09B7DB-97A3-49C4-A49A-4F2130E5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04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1C9CDE-BF7F-4ECB-9B05-3CBBDBE8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4CEC96-8741-4A1A-9496-977513F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一个存“关系网”，一个存“一行行的记录”。分开存，系统才分得清哪些是记录下来的、哪些是算出来的。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D53C462-08D9-4ADE-9571-75284AF2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0E8C7D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4190B4F-2827-4A22-B04B-D489B4F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66928" cy="658368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15875">
            <a:solidFill>
              <a:srgbClr val="0E8C7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E7A1B8-8200-48D9-8367-0AD7824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31720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图数据库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9A3415-7343-4F20-A121-5E08016D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7919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存“关系网”  ·  擅长回答：这两件事有没有关系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9C481B1-9AE2-4E10-A61F-99BA90E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8960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分成几个抽屉，各存各的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1B0520D-FFDA-4CB1-855A-F47224E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46704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6EC660-1980-402E-9132-8E814E7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374136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概念骨架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F80F68-B2F1-4DE1-950C-69D5D52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584448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有哪些概念、怎么分类</a:t>
            </a:r>
            <a:endParaRPr sz="8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713D70-7984-42BD-BA0B-ABFCD77B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346704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EC69B47-FDF5-45E9-BD7C-4EFB6F19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374136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人工写的诊断切点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D80C07C-2EC3-4B8D-ADA5-791E3C4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584448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高危数值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CDDDD8-4190-4DE7-91D2-585BF1B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77056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66176CB-1373-45A0-B460-2811BF3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904488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指南出处原文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F77656-E513-48DB-9E28-59A4A82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逐字引用 + 指纹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4133534-B71B-47D4-9620-F7367882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877056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A172F94-7F3D-439C-A5A4-E29CAC3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904488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AI 摘出来的条目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F70BFD-CFD1-4510-AA6F-DBE0F6C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114800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单独一格，可回溯</a:t>
            </a:r>
            <a:endParaRPr sz="8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EACDF79-EF30-41DF-903D-07CBBAC9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8A8D010-445B-4521-BD05-AFD4C9B1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每位患者一张关系图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5D8A2E2-5F2A-43E8-9C8B-6C161DF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645152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一人一张，互不干扰</a:t>
            </a:r>
            <a:endParaRPr sz="8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D9A80BB-C5D9-4F67-B0A4-B1E4DB2F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407408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8A7E0F6-F57A-4101-8083-4569068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434840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规则算出来的结论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E8CA46C-2F06-4D17-B311-2DB15F5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645152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0A6A5F"/>
                </a:solidFill>
                <a:latin typeface="Arial"/>
                <a:ea typeface="Arial"/>
                <a:cs typeface="Arial"/>
              </a:rPr>
              <a:t>单独一格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5922698-4783-4848-8CE8-0CDBCED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2920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记录下来的事实   ≠   算出来的结论   —— 不放同一格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27309E8-3811-479F-B90C-2475237A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14884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4506E0F-3B70-40F6-A9E2-C73D94D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331720"/>
            <a:ext cx="566928" cy="658368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875">
            <a:solidFill>
              <a:srgbClr val="44576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56D45B7-BFBD-42E2-85F9-0E50AE20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331720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关系型数据库</a:t>
            </a:r>
            <a:endParaRPr sz="2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FE6C70C-507D-4FB0-9033-56A9BF48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67919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存“一行行的记录”  ·  擅长回答：有哪些人、测了几次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0AEBEC0-E227-4E94-A559-08BB523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108960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按“干净程度”分层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B2C0B32-2378-45E9-A3AE-9768E19F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46704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275538F-02CB-4E10-9E97-EFAD4A6B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46704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原始层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13FE3A0-ABE6-4657-A7EE-401D7F2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346704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从医院库照抄，没清洗，只能用来溯源</a:t>
            </a:r>
            <a:endParaRPr sz="9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16219CB-3EF1-492E-873A-C7DF95F4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49040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69711CC6-5F91-4A52-9E9E-4D5DD5A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49040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对照层</a:t>
            </a:r>
            <a:endParaRPr sz="10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710A784-8F95-4AFB-B93A-5A374DC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749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本地叫法 ↔ 标准概念的翻译表</a:t>
            </a:r>
            <a:endParaRPr sz="9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3061125-363B-4283-A967-03E3970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151376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0318C5D-3A60-4F65-A53A-1513EA0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51376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可用层</a:t>
            </a:r>
            <a:endParaRPr sz="10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870831C-38AB-4C0C-ABEA-71776039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151376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清洗过、单位统一，才准参与判定</a:t>
            </a:r>
            <a:endParaRPr sz="9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0B8066A-CD66-422D-852F-4FF4413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553712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C835F439-5CF5-4275-8E18-D653160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53712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演示层</a:t>
            </a:r>
            <a:endParaRPr sz="10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F0C5F040-E296-4BC2-A900-830C4E1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553712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为演示造的数据，绝不和真实数据算进同一个数字</a:t>
            </a:r>
            <a:endParaRPr sz="9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50FC260-2660-44DE-8866-CB27380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02920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只有“可用层”的数据，才允许拿去和切点比大小</a:t>
            </a:r>
            <a:endParaRPr sz="115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1CAB075-5CED-4A5D-9186-B6A4D09D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91153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一句话：表库回答“是什么”，图库回答“凭什么”。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72733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0CA31F-9256-4D04-926E-1F9B8FD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三 · 一次判断是怎么做出来的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29388B-4C9E-4C0F-9B08-1A97C3F0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回答一个问题要走四步，而且顺序不能反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B8D686-76F0-4BC5-B268-A789EB8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77AD66-7997-4921-8342-90B9D7FB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05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8073472-3389-4C4C-9B86-D4B6D996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7770FC-52EA-4112-B275-7D9A954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先在表库里把人和原始记录锁定，再交给图库里的规则去判——反过来做，就等于在整张关系网里大海捞针。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49679D0-B53C-4332-B0A1-87B13B9F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8F37F4-E3C5-43CF-99A7-8CED597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1</a:t>
            </a:r>
            <a:endParaRPr sz="3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CAC05A-E4D0-4E1D-B914-2FB88A5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先翻病历柜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A87059-C4C7-43AC-AF96-E57C98D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表库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4A72807-5234-447E-A22A-DEAB3C7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在关系型数据库里定位这个人，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取出他的原始检查行。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先锁定人，再谈判定。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AD605F-33E6-41A5-A643-22FBF235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630418A-A8A2-4248-9CA6-969E23D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9A38BF-4ED1-4475-AEA1-751D474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2</a:t>
            </a:r>
            <a:endParaRPr sz="3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FEFAD59-CA00-48C7-879C-BFE7EC90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翻译 + 体检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9FAAD5D-FBA3-4333-9718-02AEF9B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对照表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F65D748-2844-44F1-94FD-0F3B7FA2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把“糖化血红蛋白”这类本地叫法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对到知识库里的标准概念；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顺手检查单位对不对、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这个数值可不可信。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5EF2E16-AEDB-41B3-A78C-E044E89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1F44E7-412F-44E7-8AF6-934E4647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0CE16D-13A1-4BFB-A41E-BAFB03F9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3</a:t>
            </a:r>
            <a:endParaRPr sz="3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552F988-63E8-4F48-95E5-6A34923B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让规则判</a:t>
            </a:r>
            <a:endParaRPr sz="17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0200A45-1CF9-4AD6-A9B8-F8C7204A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图库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C5FE564-7A7E-43AA-AD6A-EFF7847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落在哪个区间？够不够确诊？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有没有用药禁忌？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判定由规则做，不由模型做。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6024B0C-E1F6-4733-97F8-65BFF79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1C045FE-F313-4D13-91A2-FB4EF4F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5D9F5A0-6E15-46D7-BCB6-EAC1B5F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4</a:t>
            </a:r>
            <a:endParaRPr sz="3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B71234-8B97-4D8E-9460-36DF0CC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拼证据</a:t>
            </a:r>
            <a:endParaRPr sz="17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F54F8ED-9BBB-4B65-8327-BA64305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汇总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994CB34-D0AC-4C96-B13A-73400795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把结论、用到的规则、指南原句，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以及原始那一行记录，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拼成一个能被核对的答案。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04A5D6A-B4F3-4E2D-92AD-A823234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91153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最后交出来的不是一句话，而是四件东西</a:t>
            </a:r>
            <a:endParaRPr sz="11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D44C9FF-C84C-4E4E-8A97-370EFF9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CBBDD9A-4E5A-403F-A223-40F6D57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结论是什么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FB8D1BA-0DF1-4B36-AAFC-CCD4D44E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FAFEF2B-6528-4246-8396-E9AA280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凭什么这么说</a:t>
            </a:r>
            <a:endParaRPr sz="13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F1B307A-444F-42A2-947D-0BBA659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457E962-F50C-453A-979A-E2D9E969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指南原话在哪</a:t>
            </a:r>
            <a:endParaRPr sz="13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CAF6AB2-B1CA-438C-B953-F142FF1C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9356800-3B14-48BE-8B5A-A49872EB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还缺什么</a:t>
            </a:r>
            <a:endParaRPr sz="13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D7A46EE-FFED-4E19-8D2C-90586BC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70448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如果第 2 步发现单位缺了或数值不可信，流程就在这里停下并说明原因——不会硬给一个结论。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020206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DDE1D8-02AE-483C-B4A5-05AE1B6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智能体架构 · 计划、调用、观察、收敛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318CC3-95D7-4826-B6D7-8D13412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模型负责调度，确定性工具负责查证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D682FC-E281-4C92-AA05-9AE8C3FA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23BD5F-1DD5-4E02-89C4-25CF663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06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DF7D18D-04CE-4AFE-9D04-9ADF0B6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8BCC01-5A35-4F9E-8712-26BF42F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Agent 使用 ReAct 循环选择 Skill；每一步都读取结构化结果，证据不足就停止，不绕过 API 自由编造。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97D4CCA-E516-48E2-A5A7-7645351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AFEE76-DD20-4C3F-AA94-F56FDC8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1  计划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050DEB-C813-44A5-8321-2E9AE51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识别问题类型，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列出结论所需的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事实、规则与来源。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3A989D4-1966-45C3-8ED2-5EEE980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B6F1B-E3DC-45AE-82AF-83575919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2  路由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322045-BBB3-41A5-A558-3D6F08C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选择最窄的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Skill / Tool，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通过 API 执行。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9F355F-0005-444E-B105-B3008C2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CB1B71-77C9-4F65-9699-C2DEF85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3  观察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D69535-2A13-4C8D-AD65-4E7702F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读取结构化返回，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记录证据、状态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与缺口。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189EEB-604F-4FC3-92B3-CA0D683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71064A-CFF8-445D-B4B9-0CACA87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4  收敛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BDB4BF6-2F3E-42B4-BF15-47DA706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证据足够才回答；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否则返回缺口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与停止原因。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140E27E-72FD-40EC-BAD0-BEDC58E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346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3E11FCA-8D97-45BC-9D29-54A1461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A42A724-5143-40C0-8A6D-289E764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63240" y="448056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4DBDB5C-D2C9-45CB-AED5-BA75DE9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02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dash"/>
            <a:headEnd type="none"/>
            <a:tailEnd type="triangle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551C71-9C9E-4283-9029-19950F4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仓库提供 Skill、Tool 与 API；外部模型可以替换，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但确定性的证据执行链保持不变。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C7CE4F3-5E83-40F1-A197-CC2EAFA7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五层运行时护栏 —— 模型不能绕过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AB739C-492E-4DE0-BB6B-D6E0378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4203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E55E48A-D8A3-48F3-B3CF-B081E70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54203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健康检查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AEB934D-CA32-4762-96D5-7C7CD07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203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PostgreSQL / GraphDB 不通就停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327A12E-44F2-4820-8E38-8E9548DE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8211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0B6590-DC4C-481C-AEEA-6DA4C9A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18211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范围约束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0D47B6B-8149-4659-9A29-CBF91C8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211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只用白名单接口与受控查询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82E1344-C239-4ED0-AE6C-7289A3B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2219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F0F44CC-FC0B-4F18-82E6-EE1050A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82219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术语约束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2E5BF7A-B1C0-41BC-B1BD-998968A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219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未映射不猜名，不做相似替换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5022258-BAC4-46F0-8120-5D5F22D2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6227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82F2C70-C60E-49DA-BBE8-B3C0778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6227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证据约束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CC3A3E2-B07C-4703-95DB-C2461A3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227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结论必须带规则、来源与原始事实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39CEC12-B56D-462D-BF58-9A25226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0235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3AECC08-7D56-4006-B283-662F9DF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0235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预算约束</a:t>
            </a:r>
            <a:endParaRPr sz="12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6AC001E-A550-4841-811C-979F720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235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限制轮次；失败返回原因与缺口</a:t>
            </a:r>
            <a:endParaRPr sz="10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C6AC139-BBC9-4192-B185-831A8E0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779008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Agent 输出 = 结论状态 + 证据链 + 来源 + 缺口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234481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DDE1D8-02AE-483C-B4A5-05AE1B6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四 · 智能体是怎么“想”的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318CC3-95D7-4826-B6D7-8D13412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想一步，查一步，看一眼结果，再想下一步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D682FC-E281-4C92-AA05-9AE8C3FA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23BD5F-1DD5-4E02-89C4-25CF663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07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DF7D18D-04CE-4AFE-9D04-9ADF0B6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8BCC01-5A35-4F9E-8712-26BF42F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ReAct = Reason（想）+ Act（做）。它不是把问题一次性丢给模型，而是每做一个动作前必须先说理由，做完必须看结果，不够就再来一轮。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97D4CCA-E516-48E2-A5A7-7645351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AFEE76-DD20-4C3F-AA94-F56FDC8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1  想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050DEB-C813-44A5-8321-2E9AE51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这个问题该问哪一层？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是问“是什么”，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还是问“凭什么”？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3A989D4-1966-45C3-8ED2-5EEE980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B6F1B-E3DC-45AE-82AF-83575919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2  做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322045-BBB3-41A5-A558-3D6F08C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只调这一层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够用的那几个工具，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不为“更完整”多调。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9F355F-0005-444E-B105-B3008C2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CB1B71-77C9-4F65-9699-C2DEF85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3  看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D69535-2A13-4C8D-AD65-4E7702F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读返回的数据，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缺什么就记下什么，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不脑补。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189EEB-604F-4FC3-92B3-CA0D683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71064A-CFF8-445D-B4B9-0CACA87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4  够了吗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BDB4BF6-2F3E-42B4-BF15-47DA706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不够 → 回到第一步；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够了才动笔写答案。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140E27E-72FD-40EC-BAD0-BEDC58E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346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3E11FCA-8D97-45BC-9D29-54A1461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A42A724-5143-40C0-8A6D-289E764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63240" y="448056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4DBDB5C-D2C9-45CB-AED5-BA75DE9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02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dash"/>
            <a:headEnd type="none"/>
            <a:tailEnd type="triangle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551C71-9C9E-4283-9029-19950F4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这个“助手”本身在仓库之外（例如 Claude）。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仓库提供的是它的行动手册和可调用的工具，不含内置对话模型。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C7CE4F3-5E83-40F1-A197-CC2EAFA7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五条护栏 —— 它和普通聊天机器人的区别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AB739C-492E-4DE0-BB6B-D6E0378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4203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E55E48A-D8A3-48F3-B3CF-B081E70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54203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先体检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AEB934D-CA32-4762-96D5-7C7CD07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203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两个仓库通不通？不通就停，不用常识补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327A12E-44F2-4820-8E38-8E9548DE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8211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0B6590-DC4C-481C-AEEA-6DA4C9A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18211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分层走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0D47B6B-8149-4659-9A29-CBF91C8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211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问“是什么”去表库，问“凭什么”去图库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82E1344-C239-4ED0-AE6C-7289A3B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2219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F0F44CC-FC0B-4F18-82E6-EE1050A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82219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由窄到宽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2E5BF7A-B1C0-41BC-B1BD-998968A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219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先用现成接口，自由查询是最后手段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5022258-BAC4-46F0-8120-5D5F22D2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6227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82F2C70-C60E-49DA-BBE8-B3C0778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6227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不猜名字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CC3A3E2-B07C-4703-95DB-C2461A3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227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术语查不到就说查不到，不换个说法再试一遍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39CEC12-B56D-462D-BF58-9A25226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0235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3AECC08-7D56-4006-B283-662F9DF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0235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有预算</a:t>
            </a:r>
            <a:endParaRPr sz="12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6AC001E-A550-4841-811C-979F720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235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一个目标最多试 4 次，用完就说“没推出来”</a:t>
            </a:r>
            <a:endParaRPr sz="10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C6AC139-BBC9-4192-B185-831A8E0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779008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护栏的作用：让它答不出来的时候，老实说答不出来。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2344817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2361A0-6245-4A5C-87A8-1515A4D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真实样例（一）起点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C5DFE9-8322-4878-ABE9-FF56713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一次 7.4%，为什么只能说“暂定”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1CFE75-788A-49B0-8F0B-AC736377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BD6B90-6F8D-47AC-9FDE-0DED053B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08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6BB3791-B6DC-4FA7-89BD-73B39FF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784F0C-EBBD-4F59-9BE0-AA0F958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患者 P90002：2026-01-15 测了一次糖化血红蛋白，结果 7.4%。这个数落进了糖尿病区间——但系统给的结论是“暂定”，不是“确诊”。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0E50A4-3EEF-4712-85BD-78B26E3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知识库里的三个区间（由人工写定的诊断切点）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5AE4FB-FD6F-49D6-82F0-B6A9DD70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96265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64E31E7-656E-45EF-A8AC-0B32B7CD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9626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44576B"/>
                </a:solidFill>
                <a:latin typeface="Arial"/>
                <a:ea typeface="Arial"/>
                <a:cs typeface="Arial"/>
              </a:rPr>
              <a:t>正常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108037-EB1A-4CA0-9820-9CD8D32B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94176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( −∞ , 5.7 )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3AA5B4C-8F7C-4CA0-BF7A-7E819AA1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232257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4E92DE-A40E-4C0C-9AA5-8D96F5E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232257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糖尿病前期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B22A92-2E6C-47DF-A86D-C3EEA9D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417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[ 5.7 , 6.4 ]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A8E6ED-D3E3-4667-8AA3-9741890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5720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2840BF9-7724-41AC-B4D8-A461DE18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糖尿病区间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EC6514-E375-4D9D-B7B9-6B1EBE5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94176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[ 6.5 , +∞ )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F520BA3-C7B1-4404-9038-7ECC59A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87168"/>
            <a:ext cx="16459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7.4 %</a:t>
            </a:r>
            <a:endParaRPr sz="2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D43D77F-7C0D-4E5F-9C37-5303112D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26080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1202F"/>
            </a:solidFill>
            <a:prstDash val="solid"/>
            <a:headEnd type="none"/>
            <a:tailEnd type="triangle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73213F3-6880-446C-82B7-DCDAD24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41648"/>
            <a:ext cx="9966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开区间和闭区间不能混：5.7 属于糖尿病前期，不属于正常。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E3CC463-56AD-4564-8F3F-7E6A1557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23951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BA48BD-804E-4327-86FB-3ABB551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00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只有 1 个检测日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04A13AD-2313-4733-A5F2-3BD968BB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9262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暂定</a:t>
            </a:r>
            <a:endParaRPr sz="2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51CCA6E-F68D-4E17-828D-248D2BB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700016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落进区间了，但规则还要求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“两个不同的检测日期”，条件没凑齐。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2CE6BEF-88D5-4F40-9E9F-B6B6FBD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572000"/>
            <a:ext cx="523951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C7D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0A1743-20EF-489D-838E-452A2CB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00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2 个不同检测日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5A06B37-FB86-4053-810F-7837F0A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99262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确诊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19CDB43-716A-46CA-A8AD-2A5965D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700016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同一天重复测两次不算——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规则数的是不同日期，不是结果条数。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4935C81-E4E3-4EB3-942B-5F9CF0A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7880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“这个数落进了糖尿病区间”和“这个人确诊了糖尿病”，不是同一句话。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828636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6DB7DB-53FD-475A-B159-16F4AD7E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真实样例（二）过程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414C5A-C9F4-4669-A5F6-D9E5473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“对 P90002 的病情进行推演”——它是这样做的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583687-3C21-44A3-A3FB-7C104B4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7D341F-BFED-4B61-AA2B-3EECD77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09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8BA241D-0314-4BEA-8002-C872AE1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56C2F0-FC5D-4240-BD75-BEA28C2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8CA0"/>
                </a:solidFill>
                <a:latin typeface="Arial"/>
                <a:ea typeface="Arial"/>
                <a:cs typeface="Arial"/>
              </a:rPr>
              <a:t>想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50BC1C4-6D7C-456F-98B7-FE3CF20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81328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7107AF-8926-41DA-AE3A-68F69C9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148132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这是“如果……会怎样”，属于推演，不是预测。先要拿到他现在的真实情况。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5365FD3-962D-4AD4-9840-785CA8A4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587B28-71F4-4BB1-A3CE-BFB17F8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做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45C938-A560-4185-BA94-A6A6286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139696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D2B6E9-455E-43EC-9AD8-0CFA9138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13969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取基线：把这位患者的现状完整读一遍。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F63A24A-D50E-4320-BD5D-CB4C17F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8A35088-D61C-4F16-B52C-F512A0F8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看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64A4999-46C6-4ACA-9F18-57D223EA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98064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B7E9DC-DC31-427A-B811-FEF74E7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798064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7.4%、暂定诊断——而且系统直接告诉它“还差什么”，不用自己猜。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037C962-637B-45B8-B55B-B4A9BD8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75BDAFC-9E7B-4DDD-837F-56E44F6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8CA0"/>
                </a:solidFill>
                <a:latin typeface="Arial"/>
                <a:ea typeface="Arial"/>
                <a:cs typeface="Arial"/>
              </a:rPr>
              <a:t>想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B98DB0-B9A3-44A0-8E43-211B3DF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456432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5CCA678-A555-4F50-8C99-33127C3E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3456432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目标是把“暂定”变成“确诊”。差的是第二个检测日期，不是更高的数值。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9B61649-2E56-45C7-B5E6-F0BD401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994E0EE-DE7A-49C1-AD5F-E8EADC56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做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27D073D-34B1-4E8C-A0DA-7FE13DA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14800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F2292BE-3B96-4620-8F8F-EFDCB02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4114800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设一个假设：同一个项目、同一个单位，换一个日期。数值不许自己编——要么用户给，要么原样取切点 6.5，并注明这个数出自哪条区间。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170D44E-EBD2-4EB1-B5A6-EC49D9E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9E55B6-AEA7-48E8-8608-E5120633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看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F681EFD-D9C0-4F38-A1C0-03A6DE6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773168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814DE8-EAFA-4F30-95EE-4DF4445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477316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结论从“暂定”变成“确诊”；同时拿到一个固定的结果指纹。</a:t>
            </a:r>
            <a:endParaRPr sz="12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A631D8F-4CEB-4F3E-BF9E-1DF4F57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31536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A6A5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5DDDF56-1F98-4BBC-B57B-52FAEDF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31536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答</a:t>
            </a:r>
            <a:endParaRPr sz="14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72D751E-024D-4EA6-972D-A7A59CDF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431536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B03822B-7033-4BE4-B076-D52D324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543153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若在另一天再测到一次不低于 6.5% 的结果，则结论转为确诊。</a:t>
            </a:r>
            <a:endParaRPr sz="12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D380805-AD9A-4F81-848E-438200C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89904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关键在第 5 步：它可以自己决定探哪一项、探几步；但具体那个数字，它没有编造的权限。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42673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38160B-1A13-46AB-BD07-1E39E5F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真实样例（三）结果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D5192E-04F4-4798-B278-496E95D2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一句结论，和它必须带着的三条红线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AF6F35-0066-4B5C-BE07-09E85AD5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1A9451-B8C7-40B3-9EB3-8328C535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10 / 11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A370768-1628-4F74-AB6D-A0204D2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1207008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22225">
            <a:solidFill>
              <a:srgbClr val="0E8C7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4CF406-DAE0-48AB-B0ED-FA7AF5DF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45920"/>
            <a:ext cx="1024128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000"/>
              </a:lnSpc>
              <a:buNone/>
            </a:pPr>
            <a:r>
              <a:rPr sz="20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若在另一个检测日再测到一次不低于 6.5% 的糖化血红蛋白，</a:t>
            </a:r>
            <a:endParaRPr sz="2000"/>
          </a:p>
          <a:p xmlns:a="http://schemas.openxmlformats.org/drawingml/2006/main">
            <a:pPr marL="0" indent="0" algn="l">
              <a:lnSpc>
                <a:spcPts val="3000"/>
              </a:lnSpc>
              <a:buNone/>
            </a:pPr>
            <a:r>
              <a:rPr sz="20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则该患者的诊断状态从“暂定”转为“确诊”。</a:t>
            </a:r>
            <a:endParaRPr sz="2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4E6A8A4-397D-4355-A5F9-0473B17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960823F-AE55-4B7B-B143-C0F6415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这不是预测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772C5B0-29F7-4A04-8423-FF126BC1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系统没有说他会不会真的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再测到那个数。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它只回答“如果测到，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结论会怎么变”。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A67CC3E-C9F5-4E7C-BBDB-22AFF0C3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788D86-1502-49E5-AFCF-F594EEB2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数字不是编的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4BB199-8D3C-4DBA-AA9D-36770A58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6.5 原样取自知识库里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那条区间的下界，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并且注明了出处。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不是“差不多这个数”。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5B4E0F5-B0C7-4157-A301-93620ED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7F81D15-A684-41A3-98B0-4737CDF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结果可以复核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5B07AF2-85FA-43A6-8338-DD4147F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同一个问题问 5 次，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拿到 5 个一模一样的指纹。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指纹变了只有三种可能：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假设变了、知识改了、规则改了。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6959659-2200-4FF3-8A90-7F056FE5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9552"/>
            <a:ext cx="10911535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A12E60-CABC-4649-9424-7E3C7CD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5433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整个推演在一块临时的“沙盘”里跑完：真实数据库一个字都没有改。要多跑几遍都行。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56547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2839BB-D7B4-4A3E-ABD2-8C2CDE79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3FC7B4"/>
                </a:solidFill>
                <a:latin typeface="Arial"/>
                <a:ea typeface="Arial"/>
                <a:cs typeface="Arial"/>
              </a:rPr>
              <a:t>最后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8E2642-9DA4-4532-BF2D-216CF475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它做什么，不做什么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4B6586-512F-4471-A22F-5D4A62F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C7E96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A8636A-24D2-47AF-AD3D-E59420C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C7E96"/>
                </a:solidFill>
                <a:latin typeface="Arial"/>
                <a:ea typeface="Arial"/>
                <a:cs typeface="Arial"/>
              </a:rPr>
              <a:t>11 / 11</a:t>
            </a:r>
            <a:endParaRPr sz="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B2BA88-E7E0-4A8C-8B9B-EB75C39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76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40">
                <a:solidFill>
                  <a:srgbClr val="3FC7B4"/>
                </a:solidFill>
                <a:latin typeface="Arial"/>
                <a:ea typeface="Arial"/>
                <a:cs typeface="Arial"/>
              </a:rPr>
              <a:t>它做的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0D8CD-A3C4-4B40-9AE0-2023772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3F7314-AE23-421C-8A60-7B22A31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11680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把医学指南整理成能查、能核对的知识网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9527ECD-B810-44F7-B5DD-1CE5CEB5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06624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E37D28-4A6B-4053-B19B-043807B0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06624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判断一次检查落在哪个区间、够不够确诊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B55A9D-FC08-46AA-91F7-E6CE8811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01568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031C32-344D-4C10-843B-8E9288E7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01568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把每个结论追回到规则、指南原句和原始那行记录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82F4E4F-C90A-4E90-8000-266C4912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96512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CADFD7-BFF5-4EEF-B600-9A7DB16C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96512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明确说出“现在判不了，缺的是什么”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D63C56-8608-40D6-AAAD-70490E3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554480"/>
            <a:ext cx="5276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40">
                <a:solidFill>
                  <a:srgbClr val="E5B23C"/>
                </a:solidFill>
                <a:latin typeface="Arial"/>
                <a:ea typeface="Arial"/>
                <a:cs typeface="Arial"/>
              </a:rPr>
              <a:t>它不做的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38B7F43-322A-480E-ABCD-227F093D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011680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9673F62-2A84-4C11-8789-B4F5760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不给药，不给剂量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10B8F5D-430C-4602-8A9E-E25CCB2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706624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C8AD271-47B5-456F-8AAE-38FDCC52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06624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不给概率，不预测多久会怎样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E956622-F55C-4D8F-BF06-5AD638C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401568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4201E0-99D2-4677-8125-F1BDD0B4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01568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不替代医生，也不是医疗器械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47DA821-6217-4484-8DAB-D05C6051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096512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DDEDC87-13BF-4685-8C0A-8835278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不用没有依据的评分和百分比包装自己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86DA99F-9B3F-4F1D-8014-FAFE6C8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6126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3FC7B4"/>
                </a:solidFill>
                <a:latin typeface="Arial"/>
                <a:ea typeface="Arial"/>
                <a:cs typeface="Arial"/>
              </a:rPr>
              <a:t>少生成一点，多核对一点。</a:t>
            </a:r>
            <a:endParaRPr sz="26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9971705-8909-420C-9F0D-10C3D623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51206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A3C5DAD-62BC-4BC1-BC0F-2109EF2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技术验证 / 学习项目  ·  Not a Medical Device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5AEEAA4-5B2A-4842-9E06-DC7A8A3D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29200"/>
            <a:ext cx="4599432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这不是一个已经完成的医疗智能体，</a:t>
            </a:r>
            <a:endParaRPr sz="1300"/>
          </a:p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而是一套让未来的智能体</a:t>
            </a:r>
            <a:endParaRPr sz="1300"/>
          </a:p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更少越过证据边界的底座。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207073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2026-08-24T13:45:22.4870000Z</dcterms:created>
  <dcterms:modified xsi:type="dcterms:W3CDTF">2026-08-24T13:45:22.4870000Z</dcterms:modified>
</coreProperties>
</file>