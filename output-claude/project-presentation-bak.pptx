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开场不要先解释 OWL 或 GraphDB。先提出一个所有人都能理解的问题：当患者数据缺单位、缺随访、甚至关键指标不存在时，AI 是继续给一个听起来合理的答案，还是能够停下来说明“现在判不了”？
这个项目选择后者。糖尿病只是载体，真正验证的是一套可信语义推理方式：知识从哪里来、事实是否可用、规则怎样执行、结论能否回到原始证据。
需要主动声明：这是技术验证和学习项目，不是医疗器械，也不构成诊疗建议。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这些统计来自仓库记录的历史外部数据库实测，不是本次本地环境重新连接后的结果，所以页面明确标记了 Evidence Needed。这不是削弱项目，反而是在实践同一套证据原则：无法本次复核的统计，不包装成刚刚测得的数据。
强调几个含义：没有 HbA1c 数值，意味着系统不能完成最核心的糖尿病管理判断；没有单位，意味着数值无法与阈值比较；生日在未来，意味着年龄类风险规则不能直接使用；每人只有单次事实，则纵向趋势与复测确认都不成立。
转场：如果普通系统仍然被要求给答案，它会怎么做？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这里不要攻击 LLM 或字符串匹配本身。它们适合检索候选，但不适合直接承担临床判定。
“尿蛋白”在上游是定性干化学项目，参考范围写的是“阴性”。把 10.4 当作定量值，本身已经越过了数据语义。更严重的是，既有方案同时连到两个互斥疾病，confidence 都是 0.9，却没有单位、阈值和出处。
本项目选择不猜。系统能够认出这个词，但明确标记它不可用于数值判定。这是“查得到”和“判得了”的区别。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这一页是整场汇报的设计核心。解释每组状态回答的是不同问题：
Unverified 说明值存在，但质量不足；no-source-data 说明知识库认识这个检验，但真实库里没有数据；Provisional 说明证据已经指向某个区间，但确认条件没有完成；Insufficient-Evidence 说明无法分层，不是低风险；unsupported 说明系统既不能支持也不能反驳；not-adjudicable 说明问题超出了当前建模能力。
转场：要让这些状态不只是文案，系统需要一条从知识到事实再到证据的完整链路。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先用四个动词帮助观众记忆：Build、Ground、Reason、Verify。
Build 解决知识从哪里来；Ground 解决患者数据是否可用；Reason 解决结论如何确定性产生；Verify 解决调用方如何检查结论和边界。
这里要纠正一个可能的误解：仓库名称虽然有 Agent，但当前仓库不是一个内置对话模型的成品。它更准确的定位是外部 Agent 可以调用的语义推理与证据服务。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这一页是项目的一大亮点。强调“知识库工程制品”有三个含义：
第一，可重建。领域 schema 来自 JSON，TBox 由工具生成，不必靠人工在多个格式中同步修改。
第二，可追踪。来源文件有内容哈希，知识文件变化会触发明确的重建与版本变化。
第三，可门禁。SHACL 检查结构和安全约束，passage verifier 检查引用逐字性，GraphDB 验收查询检查推理和图层完整性。
不要声称流水线当前全部通过。后面会如实展示 SHACL 仍有 2 条新增违规。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很多知识图谱项目的做法是让模型读 PDF，然后直接生成三元组。这里最重要的不同是：并非所有知识类型都有同样的风险。
实体和关系可以让模型做原文锚定的候选抽取；但一个诊断切点错 0.1，就可能改变患者结论。因此 DiagnosticThreshold 和 GlycemicTarget 被设为 manual，模型不会生成它们。来源文件身份、文件哈希则由 registry 机械生成，模型也没有猜测空间。
原始模型输出还可以通过 --from-raw 重跑后续确定性校验，而不必再次调用模型。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解释每个存储的职责，不要陷入表结构细节。
PostgreSQL 擅长患者筛选、分页、业务主键和原始行；GraphDB 擅长语义路径、类层级、规则产物和 provenance。患者事实每人一张命名图，知识侧也按来源类型分图，推断结果单独进入 inferred 图。
这使系统能回答三个不同问题：上游数据库原本记录了什么？知识库声明了什么？规则在当前版本下推导了什么？
推演使用内存 Dataset，不把假设写入真实 GraphDB。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这一页不需要讲所有 33 个 API。只沿一条患者请求说明逻辑：先由 SQL 确认患者和筛选范围，避免在图中全库扫描；再从患者命名图读取事实和已有结论；规则检查单位、可信度、上下文、区间和复测要求；最后将推断结论与 SQL 原始事实、来源片段和未映射原因组合成返回体。
强调返回体不仅回答“结论是什么”，也区分 asserted facts、inferred facts、sources 和 gaps。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先区分两个句子：“A1C 7.4% 落入糖尿病区间”和“这个人已经确诊糖尿病”。它们不是同一句话。
20 号规则只负责判断这次检验落在哪个区间；30 号规则才负责根据 confirmation requirement 和不同检测日期数形成诊断状态。
同一天重复测两次也不能升级，因为规则计算的是不同日期，而不是结果条数。
集成测试代码已经覆盖这些场景，但本次本地运行因 GraphDB/PG 不可用而跳过。正式现场演示前需在完整环境重新验证。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7.8 mmol/L 是常见的葡萄糖单位；系统使用针对葡萄糖核实的系数换算为约 140.54 mg/dL。规则层不在 SPARQL 内临时猜换算，而是只比较已经规范化并且单位完全一致的值。
为什么要保留原始值？因为可追溯不仅要看到最终用于规则的 140.54，还要看到上游原本记录的 7.8 mmol/L。这样才能检查转换过程。
需要避免把这个案例说成医疗诊断演示；它展示的是单位语义对规则结果的影响。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条件推演回答的是“如果在另一个日期补一条 A1C 7.9%，结论会怎样”，不是“患者未来会不会发展为糖尿病”。假设数值必须来自调用方，系统不会生成一个看起来合理的数值。
before 和 after 使用两个全新的 Dataset，避免第一轮推理产物污染第二轮。假设事实带有 hypothetical=true 和 factOrigin=simulated，推导树中也标为 hypothetical。
实现中没有 GraphDB 写路径，但“运行前后 GraphDB size 不变”的集成测试本次被跳过，需在完整环境补充证据。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很多系统会说“我们的推理是确定性的”，但无法给出机器可验证的标识。这里的 derivation hash 覆盖了全部决定推演结果的输入：患者、图版本、实际知识快照、规则内容和规范化假设。
如果规则改一个字，rules fingerprint 会改变；如果知识库被更新，knowledge snapshot 会改变；如果假设顺序改变但内容相同，排序后哈希保持一致。
必须明确：这是可复现性凭证，不是准确率、医学正确性或临床效果证据。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解释 provenance 的两条方向：向左追患者事实，最终回到 SQL 的 source table 和 source PK；向右追知识依据，最终到阈值、规则、逐字 quote 和 SHA-256。
31/31 是本次实际在本地运行 verify_passages.py 得到的结果，可以作为直接证据。但要限定覆盖面：它只证明 seed 中这 31 条被提升为可信 SourcePassage 的引用，不代表所有抽取 recommendation 和 contraindication 都达到同样标准。
brokenLinks 很重要。系统不能只展示成功走通的证据，因为那会暗示整条链完整。断链本身必须是返回体的一部分。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这是整场汇报建立可信度的一页。先说明通过项：引文校验是本次真实运行结果；SPARQL guard 的 19 个测试也实际执行并通过；数据只读、命名图同步和推演机制有直接代码实现。
再说明限制：大量集成测试需要 PostgreSQL 和 GraphDB，本次环境不可用，因此 pytest 选择跳过。SHACL 不是全绿，新增违规涉及禁忌规则缺出处或缺强度。仓库也没有实现对话 Agent 和真实 baseline benchmark。
不要展示静态 demo 页面中的 94.7%、89.3%、100% 等数字。它们没有计算脚本和评测产物支持。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从四类角色解释价值：
知识工程师不再维护一份来历不明的静态图，而是有构建、来源和门禁；数据工程师能看到哪些术语未映射、哪些值不可信；Agent 开发者不必让模型自由拼接所有规则，而是调用稳定 API；治理者可以检查结论版本、来源和能力边界。
“语义控制面”是比“医疗 Agent”更准确的战略定位。它不直接承诺临床效果，而是提供一层可检查的约束和证据基础。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路线图顺序很重要。第一步不是立刻接入更强模型，而是让当前证据闭环可靠：修复 SHACL 新增违规，并让 CI 在缺少集成环境时明确失败，而不是大量跳过后仍显示通过。
第二步才是实现 Agent loop 和 baseline harness。比较必须使用同一套问题、固定版本和可重复的评分方法，不能继续使用静态 demo 中没有证据的百分比。
第三步是生产治理：身份认证、患者级授权、审计、限流、可观测性、知识版本审批和人工复核。这些都不是当前能力。
最后回扣开场：这不是一个已经完成的医疗 Agent，而是一套已经证明如何让未来 Agent 更少越过证据边界的工程底座。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40" kern="0" dirty="0">
                <a:solidFill>
                  <a:srgbClr val="3FC7B4"/>
                </a:solidFill>
                <a:latin typeface="Arial" pitchFamily="34" charset="0"/>
                <a:ea typeface="+mn-ea"/>
                <a:cs typeface="Arial" pitchFamily="34" charset="-120"/>
              </a:rPr>
              <a:t>DIABETES ONTOLOGY AGENT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当医疗数据不足以回答时，系统能否诚实地停下来？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E96"/>
                </a:solidFill>
                <a:latin typeface="Arial" pitchFamily="34" charset="0"/>
                <a:ea typeface="+mn-ea"/>
                <a:cs typeface="Arial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E96"/>
                </a:solidFill>
                <a:latin typeface="Arial" pitchFamily="34" charset="0"/>
                <a:ea typeface="+mn-ea"/>
                <a:cs typeface="Arial" pitchFamily="34" charset="-120"/>
              </a:rPr>
              <a:t>01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5760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知道什么时候</a:t>
            </a:r>
            <a:endParaRPr lang="en-US" sz="5000" dirty="0"/>
          </a:p>
          <a:p>
            <a:pPr algn="l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不能回答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640080" y="340156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3FC7B4"/>
                </a:solidFill>
                <a:latin typeface="Arial" pitchFamily="34" charset="0"/>
                <a:ea typeface="+mn-ea"/>
                <a:cs typeface="Arial" pitchFamily="34" charset="-120"/>
              </a:rPr>
              <a:t>可构建  ·  可推理  ·  可追溯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38862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93A4BC"/>
                </a:solidFill>
                <a:latin typeface="Arial" pitchFamily="34" charset="0"/>
                <a:ea typeface="+mn-ea"/>
                <a:cs typeface="Arial" pitchFamily="34" charset="-120"/>
              </a:rPr>
              <a:t>让每个结论都能回答：凭什么？缺什么？边界在哪里？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5029200"/>
            <a:ext cx="4480560" cy="475488"/>
          </a:xfrm>
          <a:prstGeom prst="roundRect">
            <a:avLst>
              <a:gd name="adj" fmla="val 19231"/>
            </a:avLst>
          </a:prstGeom>
          <a:solidFill>
            <a:srgbClr val="0A1526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02920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4BC"/>
                </a:solidFill>
                <a:latin typeface="Arial" pitchFamily="34" charset="0"/>
                <a:ea typeface="+mn-ea"/>
                <a:cs typeface="Arial" pitchFamily="34" charset="-120"/>
              </a:rPr>
              <a:t>技术验证 / 学习项目  ·  Not a Medical Device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66560" y="1481328"/>
            <a:ext cx="2194560" cy="658368"/>
          </a:xfrm>
          <a:prstGeom prst="roundRect">
            <a:avLst>
              <a:gd name="adj" fmla="val 9722"/>
            </a:avLst>
          </a:prstGeom>
          <a:solidFill>
            <a:srgbClr val="14243D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39712" y="1527048"/>
            <a:ext cx="2048256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Patient Fact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39712" y="1843430"/>
            <a:ext cx="2048256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A4BC"/>
                </a:solidFill>
                <a:latin typeface="Arial" pitchFamily="34" charset="0"/>
                <a:ea typeface="+mn-ea"/>
                <a:cs typeface="Arial" pitchFamily="34" charset="-120"/>
              </a:rPr>
              <a:t>患者事实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863840" y="2139696"/>
            <a:ext cx="0" cy="402336"/>
          </a:xfrm>
          <a:prstGeom prst="line">
            <a:avLst/>
          </a:prstGeom>
          <a:noFill/>
          <a:ln w="19050">
            <a:solidFill>
              <a:srgbClr val="2B3F5E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766560" y="2542032"/>
            <a:ext cx="2194560" cy="658368"/>
          </a:xfrm>
          <a:prstGeom prst="roundRect">
            <a:avLst>
              <a:gd name="adj" fmla="val 9722"/>
            </a:avLst>
          </a:prstGeom>
          <a:solidFill>
            <a:srgbClr val="14243D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39712" y="2587752"/>
            <a:ext cx="2048256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Semantic Check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39712" y="2904134"/>
            <a:ext cx="2048256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A4BC"/>
                </a:solidFill>
                <a:latin typeface="Arial" pitchFamily="34" charset="0"/>
                <a:ea typeface="+mn-ea"/>
                <a:cs typeface="Arial" pitchFamily="34" charset="-120"/>
              </a:rPr>
              <a:t>术语 · 单位 · 可信度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863840" y="3200400"/>
            <a:ext cx="0" cy="402336"/>
          </a:xfrm>
          <a:prstGeom prst="line">
            <a:avLst/>
          </a:prstGeom>
          <a:noFill/>
          <a:ln w="19050">
            <a:solidFill>
              <a:srgbClr val="2B3F5E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766560" y="3602736"/>
            <a:ext cx="2194560" cy="658368"/>
          </a:xfrm>
          <a:prstGeom prst="roundRect">
            <a:avLst>
              <a:gd name="adj" fmla="val 9722"/>
            </a:avLst>
          </a:prstGeom>
          <a:solidFill>
            <a:srgbClr val="14243D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39712" y="3648456"/>
            <a:ext cx="2048256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Rule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39712" y="3964838"/>
            <a:ext cx="2048256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A4BC"/>
                </a:solidFill>
                <a:latin typeface="Arial" pitchFamily="34" charset="0"/>
                <a:ea typeface="+mn-ea"/>
                <a:cs typeface="Arial" pitchFamily="34" charset="-120"/>
              </a:rPr>
              <a:t>确定性规则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863840" y="4261104"/>
            <a:ext cx="0" cy="402336"/>
          </a:xfrm>
          <a:prstGeom prst="line">
            <a:avLst/>
          </a:prstGeom>
          <a:noFill/>
          <a:ln w="19050">
            <a:solidFill>
              <a:srgbClr val="2B3F5E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766560" y="4663440"/>
            <a:ext cx="2194560" cy="658368"/>
          </a:xfrm>
          <a:prstGeom prst="roundRect">
            <a:avLst>
              <a:gd name="adj" fmla="val 9722"/>
            </a:avLst>
          </a:prstGeom>
          <a:solidFill>
            <a:srgbClr val="0A6A5F"/>
          </a:solidFill>
          <a:ln w="12700">
            <a:solidFill>
              <a:srgbClr val="0E8C7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9712" y="4709160"/>
            <a:ext cx="2048256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839712" y="5025542"/>
            <a:ext cx="2048256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FE8E1"/>
                </a:solidFill>
                <a:latin typeface="Arial" pitchFamily="34" charset="0"/>
                <a:ea typeface="+mn-ea"/>
                <a:cs typeface="Arial" pitchFamily="34" charset="-120"/>
              </a:rPr>
              <a:t>可核查结论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961120" y="2871216"/>
            <a:ext cx="201168" cy="0"/>
          </a:xfrm>
          <a:prstGeom prst="line">
            <a:avLst/>
          </a:prstGeom>
          <a:noFill/>
          <a:ln w="19050">
            <a:solidFill>
              <a:srgbClr val="E5B23C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 flipH="1">
            <a:off x="9418320" y="2871216"/>
            <a:ext cx="18288" cy="0"/>
          </a:xfrm>
          <a:prstGeom prst="line">
            <a:avLst/>
          </a:prstGeom>
          <a:noFill/>
          <a:ln w="19050">
            <a:solidFill>
              <a:srgbClr val="E5B23C"/>
            </a:solidFill>
            <a:prstDash val="dash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418320" y="2542032"/>
            <a:ext cx="2103120" cy="658368"/>
          </a:xfrm>
          <a:prstGeom prst="roundRect">
            <a:avLst>
              <a:gd name="adj" fmla="val 9722"/>
            </a:avLst>
          </a:prstGeom>
          <a:solidFill>
            <a:srgbClr val="0A1526"/>
          </a:solidFill>
          <a:ln w="19050">
            <a:solidFill>
              <a:srgbClr val="E5B23C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9491472" y="2542032"/>
            <a:ext cx="1956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E5B23C"/>
                </a:solidFill>
                <a:latin typeface="Arial" pitchFamily="34" charset="0"/>
                <a:ea typeface="+mn-ea"/>
                <a:cs typeface="Arial" pitchFamily="34" charset="-120"/>
              </a:rPr>
              <a:t>Evidence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E5B23C"/>
                </a:solidFill>
                <a:latin typeface="Arial" pitchFamily="34" charset="0"/>
                <a:ea typeface="+mn-ea"/>
                <a:cs typeface="Arial" pitchFamily="34" charset="-120"/>
              </a:rPr>
              <a:t>Insufficient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418320" y="32735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3A4BC"/>
                </a:solidFill>
                <a:latin typeface="Arial" pitchFamily="34" charset="0"/>
                <a:ea typeface="+mn-ea"/>
                <a:cs typeface="Arial" pitchFamily="34" charset="-120"/>
              </a:rPr>
              <a:t>缺单位 · 缺出处</a:t>
            </a:r>
            <a:endParaRPr lang="en-US" sz="9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3A4BC"/>
                </a:solidFill>
                <a:latin typeface="Arial" pitchFamily="34" charset="0"/>
                <a:ea typeface="+mn-ea"/>
                <a:cs typeface="Arial" pitchFamily="34" charset="-120"/>
              </a:rPr>
              <a:t>→ 不进入数值判定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40" kern="0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PROBLEM · DATA REALITY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真实世界的数据，首先暴露的不是答案，而是缺口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5C2"/>
                </a:solidFill>
                <a:latin typeface="Arial" pitchFamily="34" charset="0"/>
                <a:ea typeface="+mn-ea"/>
                <a:cs typeface="Arial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5C2"/>
                </a:solidFill>
                <a:latin typeface="Arial" pitchFamily="34" charset="0"/>
                <a:ea typeface="+mn-ea"/>
                <a:cs typeface="Arial" pitchFamily="34" charset="-120"/>
              </a:rPr>
              <a:t>02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3200400" cy="32004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D9E0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7889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400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77724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patients · 历史数据审查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24912" y="4224528"/>
            <a:ext cx="1298448" cy="1298448"/>
          </a:xfrm>
          <a:prstGeom prst="ellipse">
            <a:avLst/>
          </a:prstGeom>
          <a:solidFill>
            <a:srgbClr val="F5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24912" y="457200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15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24912" y="486460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coded E11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09160" y="1627632"/>
            <a:ext cx="1188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dirty="0">
                <a:solidFill>
                  <a:srgbClr val="B8860B"/>
                </a:solidFill>
                <a:latin typeface="Arial" pitchFamily="34" charset="0"/>
                <a:ea typeface="+mn-ea"/>
                <a:cs typeface="Arial" pitchFamily="34" charset="-120"/>
              </a:rPr>
              <a:t>0</a:t>
            </a:r>
            <a:endParaRPr lang="en-US" sz="8800" dirty="0"/>
          </a:p>
        </p:txBody>
      </p:sp>
      <p:sp>
        <p:nvSpPr>
          <p:cNvPr id="13" name="Text 11"/>
          <p:cNvSpPr/>
          <p:nvPr/>
        </p:nvSpPr>
        <p:spPr>
          <a:xfrm>
            <a:off x="6035040" y="1847088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条可用 HbA1c 数值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035040" y="22860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上游全库没有 A1C 数值 —— 糖尿病管理最核心的判定，</a:t>
            </a:r>
            <a:endParaRPr lang="en-US" sz="12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在数据层就已经不成立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3246120"/>
            <a:ext cx="6812280" cy="658368"/>
          </a:xfrm>
          <a:prstGeom prst="roundRect">
            <a:avLst>
              <a:gd name="adj" fmla="val 8333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24612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1,600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37960" y="324612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条检验 · 缺单位列，数值可信度不足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4032504"/>
            <a:ext cx="6812280" cy="658368"/>
          </a:xfrm>
          <a:prstGeom prst="roundRect">
            <a:avLst>
              <a:gd name="adj" fmla="val 8333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4032504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329 / 400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37960" y="403250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生日在未来 · 年龄类风险规则不可直接使用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4818888"/>
            <a:ext cx="6812280" cy="658368"/>
          </a:xfrm>
          <a:prstGeom prst="roundRect">
            <a:avLst>
              <a:gd name="adj" fmla="val 8333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4818888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537960" y="481888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每患者恰好一条诊断 · 无纵向趋势与复测确认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56235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有记录  ≠  有证据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4709160" y="5605272"/>
            <a:ext cx="6812280" cy="384048"/>
          </a:xfrm>
          <a:prstGeom prst="roundRect">
            <a:avLst>
              <a:gd name="adj" fmla="val 14286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5605272"/>
            <a:ext cx="6446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860B"/>
                </a:solidFill>
                <a:latin typeface="Arial" pitchFamily="34" charset="0"/>
                <a:ea typeface="+mn-ea"/>
                <a:cs typeface="Arial" pitchFamily="34" charset="-120"/>
              </a:rPr>
              <a:t>Evidence Needed · 数字来自仓库记录的历史外部库实测，公开汇报前需重新连接原始数据库复核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40" kern="0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PROBLEM · FALSE CERTAINTY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最危险的错误，是给出一个看起来合理的答案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5C2"/>
                </a:solidFill>
                <a:latin typeface="Arial" pitchFamily="34" charset="0"/>
                <a:ea typeface="+mn-ea"/>
                <a:cs typeface="Arial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5C2"/>
                </a:solidFill>
                <a:latin typeface="Arial" pitchFamily="34" charset="0"/>
                <a:ea typeface="+mn-ea"/>
                <a:cs typeface="Arial" pitchFamily="34" charset="-120"/>
              </a:rPr>
              <a:t>03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257800" cy="3977640"/>
          </a:xfrm>
          <a:prstGeom prst="roundRect">
            <a:avLst>
              <a:gd name="adj" fmla="val 2069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5564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普通字符串匹配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148840" y="2240280"/>
            <a:ext cx="22402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21992" y="2240280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尿蛋白  10.4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flipH="1">
            <a:off x="1965960" y="2807208"/>
            <a:ext cx="777240" cy="713232"/>
          </a:xfrm>
          <a:prstGeom prst="line">
            <a:avLst/>
          </a:prstGeom>
          <a:noFill/>
          <a:ln w="19050">
            <a:solidFill>
              <a:srgbClr val="D4695C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794760" y="2807208"/>
            <a:ext cx="777240" cy="713232"/>
          </a:xfrm>
          <a:prstGeom prst="line">
            <a:avLst/>
          </a:prstGeom>
          <a:noFill/>
          <a:ln w="19050">
            <a:solidFill>
              <a:srgbClr val="D4695C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14400" y="3520440"/>
            <a:ext cx="2057400" cy="713232"/>
          </a:xfrm>
          <a:prstGeom prst="roundRect">
            <a:avLst>
              <a:gd name="adj" fmla="val 8974"/>
            </a:avLst>
          </a:prstGeom>
          <a:solidFill>
            <a:srgbClr val="F9EBE9"/>
          </a:solidFill>
          <a:ln w="12700">
            <a:solidFill>
              <a:srgbClr val="F9EB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566160"/>
            <a:ext cx="1911096" cy="37088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93B30"/>
                </a:solidFill>
                <a:latin typeface="Arial" pitchFamily="34" charset="0"/>
                <a:ea typeface="+mn-ea"/>
                <a:cs typeface="Arial" pitchFamily="34" charset="-120"/>
              </a:rPr>
              <a:t>Disease 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87552" y="3912718"/>
            <a:ext cx="191109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93B30"/>
                </a:solidFill>
                <a:latin typeface="Arial" pitchFamily="34" charset="0"/>
                <a:ea typeface="+mn-ea"/>
                <a:cs typeface="Arial" pitchFamily="34" charset="-120"/>
              </a:rPr>
              <a:t>confidence 0.9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66160" y="3520440"/>
            <a:ext cx="2057400" cy="713232"/>
          </a:xfrm>
          <a:prstGeom prst="roundRect">
            <a:avLst>
              <a:gd name="adj" fmla="val 8974"/>
            </a:avLst>
          </a:prstGeom>
          <a:solidFill>
            <a:srgbClr val="F9EBE9"/>
          </a:solidFill>
          <a:ln w="12700">
            <a:solidFill>
              <a:srgbClr val="F9EB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9312" y="3566160"/>
            <a:ext cx="1911096" cy="37088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93B30"/>
                </a:solidFill>
                <a:latin typeface="Arial" pitchFamily="34" charset="0"/>
                <a:ea typeface="+mn-ea"/>
                <a:cs typeface="Arial" pitchFamily="34" charset="-120"/>
              </a:rPr>
              <a:t>Disease B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639312" y="3912718"/>
            <a:ext cx="191109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93B30"/>
                </a:solidFill>
                <a:latin typeface="Arial" pitchFamily="34" charset="0"/>
                <a:ea typeface="+mn-ea"/>
                <a:cs typeface="Arial" pitchFamily="34" charset="-120"/>
              </a:rPr>
              <a:t>confidence 0.9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4400" y="44348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两个互斥疾病同时命中，置信度相同；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没有单位、没有阈值、没有出处，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却给出了确定的结论。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1554480"/>
            <a:ext cx="5239512" cy="3977640"/>
          </a:xfrm>
          <a:prstGeom prst="roundRect">
            <a:avLst>
              <a:gd name="adj" fmla="val 2069"/>
            </a:avLst>
          </a:prstGeom>
          <a:solidFill>
            <a:srgbClr val="E4F3F0"/>
          </a:solidFill>
          <a:ln w="12700">
            <a:solidFill>
              <a:srgbClr val="E4F3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1755648"/>
            <a:ext cx="4690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本项目 · 语义门禁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818120" y="2240280"/>
            <a:ext cx="22402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91272" y="2240280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尿蛋白  10.4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942832" y="2807208"/>
            <a:ext cx="0" cy="228600"/>
          </a:xfrm>
          <a:prstGeom prst="line">
            <a:avLst/>
          </a:prstGeom>
          <a:noFill/>
          <a:ln w="19050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583680" y="3035808"/>
            <a:ext cx="469087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0E8C7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310896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Test type ?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052560" y="310896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8860B"/>
                </a:solidFill>
                <a:latin typeface="Courier New" pitchFamily="34" charset="0"/>
                <a:ea typeface="+mn-ea"/>
                <a:cs typeface="Courier New" pitchFamily="34" charset="-120"/>
              </a:rPr>
              <a:t>qualitative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766560" y="339242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Valid unit ?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052560" y="339242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8860B"/>
                </a:solidFill>
                <a:latin typeface="Courier New" pitchFamily="34" charset="0"/>
                <a:ea typeface="+mn-ea"/>
                <a:cs typeface="Courier New" pitchFamily="34" charset="-120"/>
              </a:rPr>
              <a:t>none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766560" y="36758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Applicable threshold ?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052560" y="367588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8860B"/>
                </a:solidFill>
                <a:latin typeface="Courier New" pitchFamily="34" charset="0"/>
                <a:ea typeface="+mn-ea"/>
                <a:cs typeface="Courier New" pitchFamily="34" charset="-120"/>
              </a:rPr>
              <a:t>none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942832" y="3968496"/>
            <a:ext cx="0" cy="237744"/>
          </a:xfrm>
          <a:prstGeom prst="line">
            <a:avLst/>
          </a:prstGeom>
          <a:noFill/>
          <a:ln w="19050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589520" y="4206240"/>
            <a:ext cx="2697480" cy="548640"/>
          </a:xfrm>
          <a:prstGeom prst="roundRect">
            <a:avLst>
              <a:gd name="adj" fmla="val 11667"/>
            </a:avLst>
          </a:prstGeom>
          <a:solidFill>
            <a:srgbClr val="FAF1DE"/>
          </a:solidFill>
          <a:ln w="15875">
            <a:solidFill>
              <a:srgbClr val="E5B2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62672" y="4206240"/>
            <a:ext cx="2551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Arial" pitchFamily="34" charset="0"/>
                <a:ea typeface="+mn-ea"/>
                <a:cs typeface="Arial" pitchFamily="34" charset="-120"/>
              </a:rPr>
              <a:t>unmappable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942832" y="4754880"/>
            <a:ext cx="0" cy="228600"/>
          </a:xfrm>
          <a:prstGeom prst="line">
            <a:avLst/>
          </a:prstGeom>
          <a:noFill/>
          <a:ln w="19050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6583680" y="4983480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要判断白蛋白尿，需要 UACR（mg/g）——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那是另一个检验，不是这一条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40080" y="57150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Recognized  ≠  Adjudicable        查得到，不等于判得了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40" kern="0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DESIGN INVERSION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我们先把“不知道”变成系统能力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5C2"/>
                </a:solidFill>
                <a:latin typeface="Arial" pitchFamily="34" charset="0"/>
                <a:ea typeface="+mn-ea"/>
                <a:cs typeface="Arial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5C2"/>
                </a:solidFill>
                <a:latin typeface="Arial" pitchFamily="34" charset="0"/>
                <a:ea typeface="+mn-ea"/>
                <a:cs typeface="Arial" pitchFamily="34" charset="-120"/>
              </a:rPr>
              <a:t>04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627632"/>
            <a:ext cx="6035040" cy="658368"/>
          </a:xfrm>
          <a:prstGeom prst="roundRect">
            <a:avLst>
              <a:gd name="adj" fmla="val 9722"/>
            </a:avLst>
          </a:prstGeom>
          <a:solidFill>
            <a:srgbClr val="F5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673352"/>
            <a:ext cx="5888736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Fact Availability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989734"/>
            <a:ext cx="5888736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值是否可用于推理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703320" y="2286000"/>
            <a:ext cx="0" cy="237744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720840" y="1956816"/>
            <a:ext cx="182880" cy="0"/>
          </a:xfrm>
          <a:prstGeom prst="line">
            <a:avLst/>
          </a:prstGeom>
          <a:noFill/>
          <a:ln w="15875">
            <a:solidFill>
              <a:srgbClr val="E5B23C"/>
            </a:solidFill>
            <a:prstDash val="dash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040880" y="1709928"/>
            <a:ext cx="896112" cy="493776"/>
          </a:xfrm>
          <a:prstGeom prst="roundRect">
            <a:avLst>
              <a:gd name="adj" fmla="val 16667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1709928"/>
            <a:ext cx="896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860B"/>
                </a:solidFill>
                <a:latin typeface="Courier New" pitchFamily="34" charset="0"/>
                <a:ea typeface="+mn-ea"/>
                <a:cs typeface="Courier New" pitchFamily="34" charset="-120"/>
              </a:rPr>
              <a:t>Unverified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83296" y="1709928"/>
            <a:ext cx="896112" cy="493776"/>
          </a:xfrm>
          <a:prstGeom prst="roundRect">
            <a:avLst>
              <a:gd name="adj" fmla="val 16667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83296" y="1709928"/>
            <a:ext cx="896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860B"/>
                </a:solidFill>
                <a:latin typeface="Courier New" pitchFamily="34" charset="0"/>
                <a:ea typeface="+mn-ea"/>
                <a:cs typeface="Courier New" pitchFamily="34" charset="-120"/>
              </a:rPr>
              <a:t>unmappable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25712" y="1709928"/>
            <a:ext cx="1181405" cy="493776"/>
          </a:xfrm>
          <a:prstGeom prst="roundRect">
            <a:avLst>
              <a:gd name="adj" fmla="val 16667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25712" y="1709928"/>
            <a:ext cx="118140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860B"/>
                </a:solidFill>
                <a:latin typeface="Courier New" pitchFamily="34" charset="0"/>
                <a:ea typeface="+mn-ea"/>
                <a:cs typeface="Courier New" pitchFamily="34" charset="-120"/>
              </a:rPr>
              <a:t>no-source-data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97280" y="2523744"/>
            <a:ext cx="5212080" cy="658368"/>
          </a:xfrm>
          <a:prstGeom prst="roundRect">
            <a:avLst>
              <a:gd name="adj" fmla="val 9722"/>
            </a:avLst>
          </a:prstGeom>
          <a:solidFill>
            <a:srgbClr val="F5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0432" y="2569464"/>
            <a:ext cx="5065776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Evidence Closure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70432" y="2885846"/>
            <a:ext cx="5065776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证据是否闭合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703320" y="3182112"/>
            <a:ext cx="0" cy="237744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309360" y="2852928"/>
            <a:ext cx="594360" cy="0"/>
          </a:xfrm>
          <a:prstGeom prst="line">
            <a:avLst/>
          </a:prstGeom>
          <a:noFill/>
          <a:ln w="15875">
            <a:solidFill>
              <a:srgbClr val="E5B23C"/>
            </a:solidFill>
            <a:prstDash val="dash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040880" y="2606040"/>
            <a:ext cx="967435" cy="493776"/>
          </a:xfrm>
          <a:prstGeom prst="roundRect">
            <a:avLst>
              <a:gd name="adj" fmla="val 16667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2606040"/>
            <a:ext cx="9674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860B"/>
                </a:solidFill>
                <a:latin typeface="Courier New" pitchFamily="34" charset="0"/>
                <a:ea typeface="+mn-ea"/>
                <a:cs typeface="Courier New" pitchFamily="34" charset="-120"/>
              </a:rPr>
              <a:t>Provisional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54619" y="2606040"/>
            <a:ext cx="1680667" cy="493776"/>
          </a:xfrm>
          <a:prstGeom prst="roundRect">
            <a:avLst>
              <a:gd name="adj" fmla="val 16667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54619" y="2606040"/>
            <a:ext cx="16806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860B"/>
                </a:solidFill>
                <a:latin typeface="Courier New" pitchFamily="34" charset="0"/>
                <a:ea typeface="+mn-ea"/>
                <a:cs typeface="Courier New" pitchFamily="34" charset="-120"/>
              </a:rPr>
              <a:t>Insufficient-Evidence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508760" y="3419856"/>
            <a:ext cx="4389120" cy="658368"/>
          </a:xfrm>
          <a:prstGeom prst="roundRect">
            <a:avLst>
              <a:gd name="adj" fmla="val 9722"/>
            </a:avLst>
          </a:prstGeom>
          <a:solidFill>
            <a:srgbClr val="F5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81912" y="3465576"/>
            <a:ext cx="4242816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Capability Boundary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81912" y="3781958"/>
            <a:ext cx="4242816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问题是否在建模范围内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703320" y="4078224"/>
            <a:ext cx="0" cy="237744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897880" y="3749040"/>
            <a:ext cx="1005840" cy="0"/>
          </a:xfrm>
          <a:prstGeom prst="line">
            <a:avLst/>
          </a:prstGeom>
          <a:noFill/>
          <a:ln w="15875">
            <a:solidFill>
              <a:srgbClr val="E5B23C"/>
            </a:solidFill>
            <a:prstDash val="dash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040880" y="3502152"/>
            <a:ext cx="967435" cy="493776"/>
          </a:xfrm>
          <a:prstGeom prst="roundRect">
            <a:avLst>
              <a:gd name="adj" fmla="val 16667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0" y="3502152"/>
            <a:ext cx="9674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860B"/>
                </a:solidFill>
                <a:latin typeface="Courier New" pitchFamily="34" charset="0"/>
                <a:ea typeface="+mn-ea"/>
                <a:cs typeface="Courier New" pitchFamily="34" charset="-120"/>
              </a:rPr>
              <a:t>unsupported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154619" y="3502152"/>
            <a:ext cx="1252728" cy="493776"/>
          </a:xfrm>
          <a:prstGeom prst="roundRect">
            <a:avLst>
              <a:gd name="adj" fmla="val 16667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54619" y="3502152"/>
            <a:ext cx="12527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860B"/>
                </a:solidFill>
                <a:latin typeface="Courier New" pitchFamily="34" charset="0"/>
                <a:ea typeface="+mn-ea"/>
                <a:cs typeface="Courier New" pitchFamily="34" charset="-120"/>
              </a:rPr>
              <a:t>not-adjudicable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920240" y="4315968"/>
            <a:ext cx="3566160" cy="658368"/>
          </a:xfrm>
          <a:prstGeom prst="roundRect">
            <a:avLst>
              <a:gd name="adj" fmla="val 9722"/>
            </a:avLst>
          </a:prstGeom>
          <a:solidFill>
            <a:srgbClr val="F5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93392" y="4361688"/>
            <a:ext cx="3419856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Trace Integrity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993392" y="4678070"/>
            <a:ext cx="3419856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链路是否完整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86400" y="4645152"/>
            <a:ext cx="1417320" cy="0"/>
          </a:xfrm>
          <a:prstGeom prst="line">
            <a:avLst/>
          </a:prstGeom>
          <a:noFill/>
          <a:ln w="15875">
            <a:solidFill>
              <a:srgbClr val="E5B23C"/>
            </a:solidFill>
            <a:prstDash val="dash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040880" y="4398264"/>
            <a:ext cx="967435" cy="493776"/>
          </a:xfrm>
          <a:prstGeom prst="roundRect">
            <a:avLst>
              <a:gd name="adj" fmla="val 16667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40880" y="4398264"/>
            <a:ext cx="9674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860B"/>
                </a:solidFill>
                <a:latin typeface="Courier New" pitchFamily="34" charset="0"/>
                <a:ea typeface="+mn-ea"/>
                <a:cs typeface="Courier New" pitchFamily="34" charset="-120"/>
              </a:rPr>
              <a:t>emptyReason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154619" y="4398264"/>
            <a:ext cx="967435" cy="493776"/>
          </a:xfrm>
          <a:prstGeom prst="roundRect">
            <a:avLst>
              <a:gd name="adj" fmla="val 16667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54619" y="4398264"/>
            <a:ext cx="9674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860B"/>
                </a:solidFill>
                <a:latin typeface="Courier New" pitchFamily="34" charset="0"/>
                <a:ea typeface="+mn-ea"/>
                <a:cs typeface="Courier New" pitchFamily="34" charset="-120"/>
              </a:rPr>
              <a:t>brokenLinks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703320" y="4956048"/>
            <a:ext cx="0" cy="256032"/>
          </a:xfrm>
          <a:prstGeom prst="line">
            <a:avLst/>
          </a:prstGeom>
          <a:noFill/>
          <a:ln w="19050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2011680" y="5212080"/>
            <a:ext cx="3383280" cy="603504"/>
          </a:xfrm>
          <a:prstGeom prst="roundRect">
            <a:avLst>
              <a:gd name="adj" fmla="val 10606"/>
            </a:avLst>
          </a:prstGeom>
          <a:solidFill>
            <a:srgbClr val="E4F3F0"/>
          </a:solidFill>
          <a:ln w="15875">
            <a:solidFill>
              <a:srgbClr val="0E8C7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84832" y="5212080"/>
            <a:ext cx="32369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Answerable with Evidence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040880" y="5212080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Unknown is a first-class result.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7040880" y="58155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不确定性不是异常，是正式输出状态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40" kern="0" dirty="0">
                <a:solidFill>
                  <a:srgbClr val="3FC7B4"/>
                </a:solidFill>
                <a:latin typeface="Arial" pitchFamily="34" charset="0"/>
                <a:ea typeface="+mn-ea"/>
                <a:cs typeface="Arial" pitchFamily="34" charset="-120"/>
              </a:rPr>
              <a:t>SOLUTION OVERVIEW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解决方案不是一个模型，而是一条可信证据链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E96"/>
                </a:solidFill>
                <a:latin typeface="Arial" pitchFamily="34" charset="0"/>
                <a:ea typeface="+mn-ea"/>
                <a:cs typeface="Arial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E96"/>
                </a:solidFill>
                <a:latin typeface="Arial" pitchFamily="34" charset="0"/>
                <a:ea typeface="+mn-ea"/>
                <a:cs typeface="Arial" pitchFamily="34" charset="-120"/>
              </a:rPr>
              <a:t>05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2395728" cy="1691640"/>
          </a:xfrm>
          <a:prstGeom prst="roundRect">
            <a:avLst>
              <a:gd name="adj" fmla="val 4865"/>
            </a:avLst>
          </a:prstGeom>
          <a:solidFill>
            <a:srgbClr val="14243D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249424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3FC7B4"/>
                </a:solidFill>
                <a:latin typeface="Arial" pitchFamily="34" charset="0"/>
                <a:ea typeface="+mn-ea"/>
                <a:cs typeface="Arial" pitchFamily="34" charset="-120"/>
              </a:rPr>
              <a:t>01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41248" y="2907792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Build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41248" y="331012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3A4BC"/>
                </a:solidFill>
                <a:latin typeface="Arial" pitchFamily="34" charset="0"/>
                <a:ea typeface="+mn-ea"/>
                <a:cs typeface="Arial" pitchFamily="34" charset="-120"/>
              </a:rPr>
              <a:t>可审计知识库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090672" y="2944368"/>
            <a:ext cx="256032" cy="0"/>
          </a:xfrm>
          <a:prstGeom prst="line">
            <a:avLst/>
          </a:prstGeom>
          <a:noFill/>
          <a:ln w="19050">
            <a:solidFill>
              <a:srgbClr val="3FC7B4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01568" y="2103120"/>
            <a:ext cx="2395728" cy="1691640"/>
          </a:xfrm>
          <a:prstGeom prst="roundRect">
            <a:avLst>
              <a:gd name="adj" fmla="val 4865"/>
            </a:avLst>
          </a:prstGeom>
          <a:solidFill>
            <a:srgbClr val="14243D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2736" y="2249424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3FC7B4"/>
                </a:solidFill>
                <a:latin typeface="Arial" pitchFamily="34" charset="0"/>
                <a:ea typeface="+mn-ea"/>
                <a:cs typeface="Arial" pitchFamily="34" charset="-120"/>
              </a:rPr>
              <a:t>02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602736" y="2907792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Ground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602736" y="331012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3A4BC"/>
                </a:solidFill>
                <a:latin typeface="Arial" pitchFamily="34" charset="0"/>
                <a:ea typeface="+mn-ea"/>
                <a:cs typeface="Arial" pitchFamily="34" charset="-120"/>
              </a:rPr>
              <a:t>标准化患者事实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52160" y="2944368"/>
            <a:ext cx="256032" cy="0"/>
          </a:xfrm>
          <a:prstGeom prst="line">
            <a:avLst/>
          </a:prstGeom>
          <a:noFill/>
          <a:ln w="19050">
            <a:solidFill>
              <a:srgbClr val="3FC7B4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63056" y="2103120"/>
            <a:ext cx="2395728" cy="1691640"/>
          </a:xfrm>
          <a:prstGeom prst="roundRect">
            <a:avLst>
              <a:gd name="adj" fmla="val 4865"/>
            </a:avLst>
          </a:prstGeom>
          <a:solidFill>
            <a:srgbClr val="14243D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2249424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3FC7B4"/>
                </a:solidFill>
                <a:latin typeface="Arial" pitchFamily="34" charset="0"/>
                <a:ea typeface="+mn-ea"/>
                <a:cs typeface="Arial" pitchFamily="34" charset="-120"/>
              </a:rPr>
              <a:t>03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364224" y="2907792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Reason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364224" y="331012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3A4BC"/>
                </a:solidFill>
                <a:latin typeface="Arial" pitchFamily="34" charset="0"/>
                <a:ea typeface="+mn-ea"/>
                <a:cs typeface="Arial" pitchFamily="34" charset="-120"/>
              </a:rPr>
              <a:t>确定性语义规则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613648" y="2944368"/>
            <a:ext cx="256032" cy="0"/>
          </a:xfrm>
          <a:prstGeom prst="line">
            <a:avLst/>
          </a:prstGeom>
          <a:noFill/>
          <a:ln w="19050">
            <a:solidFill>
              <a:srgbClr val="3FC7B4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924544" y="2103120"/>
            <a:ext cx="2395728" cy="1691640"/>
          </a:xfrm>
          <a:prstGeom prst="roundRect">
            <a:avLst>
              <a:gd name="adj" fmla="val 4865"/>
            </a:avLst>
          </a:prstGeom>
          <a:solidFill>
            <a:srgbClr val="14243D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25712" y="2249424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3FC7B4"/>
                </a:solidFill>
                <a:latin typeface="Arial" pitchFamily="34" charset="0"/>
                <a:ea typeface="+mn-ea"/>
                <a:cs typeface="Arial" pitchFamily="34" charset="-120"/>
              </a:rPr>
              <a:t>04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9125712" y="2907792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Verify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125712" y="331012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3A4BC"/>
                </a:solidFill>
                <a:latin typeface="Arial" pitchFamily="34" charset="0"/>
                <a:ea typeface="+mn-ea"/>
                <a:cs typeface="Arial" pitchFamily="34" charset="-120"/>
              </a:rPr>
              <a:t>溯源 · 裁决 · 推演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 flipV="1">
            <a:off x="1691640" y="3794760"/>
            <a:ext cx="0" cy="777240"/>
          </a:xfrm>
          <a:prstGeom prst="line">
            <a:avLst/>
          </a:prstGeom>
          <a:noFill/>
          <a:ln w="15875">
            <a:solidFill>
              <a:srgbClr val="E5B23C"/>
            </a:solidFill>
            <a:prstDash val="dash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22960" y="4572000"/>
            <a:ext cx="2011680" cy="566928"/>
          </a:xfrm>
          <a:prstGeom prst="roundRect">
            <a:avLst>
              <a:gd name="adj" fmla="val 11290"/>
            </a:avLst>
          </a:prstGeom>
          <a:solidFill>
            <a:srgbClr val="0A1526"/>
          </a:solidFill>
          <a:ln w="15875">
            <a:solidFill>
              <a:srgbClr val="E5B23C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896112" y="4617720"/>
            <a:ext cx="1865376" cy="29480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5B23C"/>
                </a:solidFill>
                <a:latin typeface="Arial" pitchFamily="34" charset="0"/>
                <a:ea typeface="+mn-ea"/>
                <a:cs typeface="Arial" pitchFamily="34" charset="-120"/>
              </a:rPr>
              <a:t>LLM Extraction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96112" y="4883810"/>
            <a:ext cx="186537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A4BC"/>
                </a:solidFill>
                <a:latin typeface="Arial" pitchFamily="34" charset="0"/>
                <a:ea typeface="+mn-ea"/>
                <a:cs typeface="Arial" pitchFamily="34" charset="-120"/>
              </a:rPr>
              <a:t>offline · Build 阶段受限支路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566160" y="457200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LLM participates in extraction — not in patient reasoning.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3566160" y="5193792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3A4BC"/>
                </a:solidFill>
                <a:latin typeface="Courier New" pitchFamily="34" charset="0"/>
                <a:ea typeface="+mn-ea"/>
                <a:cs typeface="Courier New" pitchFamily="34" charset="-120"/>
              </a:rPr>
              <a:t>正式运行时 src/dmo 中没有模型调用；唯一的 OpenAI 兼容调用位于离线知识抽取工具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3A4BC"/>
                </a:solidFill>
                <a:latin typeface="Courier New" pitchFamily="34" charset="0"/>
                <a:ea typeface="+mn-ea"/>
                <a:cs typeface="Courier New" pitchFamily="34" charset="-120"/>
              </a:rPr>
              <a:t>ontology/tools/semantic_extract.py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40" kern="0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ONTOLOGY BUILD PIPELINE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本体不是手工成品，而是可持续构建的知识库工程制品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5C2"/>
                </a:solidFill>
                <a:latin typeface="Arial" pitchFamily="34" charset="0"/>
                <a:ea typeface="+mn-ea"/>
                <a:cs typeface="Arial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5C2"/>
                </a:solidFill>
                <a:latin typeface="Arial" pitchFamily="34" charset="0"/>
                <a:ea typeface="+mn-ea"/>
                <a:cs typeface="Arial" pitchFamily="34" charset="-120"/>
              </a:rPr>
              <a:t>06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5727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原料 · SOURCES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0" y="15727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构建 · BUILD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309360" y="15727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B8860B"/>
                </a:solidFill>
                <a:latin typeface="Arial" pitchFamily="34" charset="0"/>
                <a:ea typeface="+mn-ea"/>
                <a:cs typeface="Arial" pitchFamily="34" charset="-120"/>
              </a:rPr>
              <a:t>质量门禁 · GATES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0" y="15727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运行时 · RUNTIME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1956816"/>
            <a:ext cx="2377440" cy="713232"/>
          </a:xfrm>
          <a:prstGeom prst="roundRect">
            <a:avLst>
              <a:gd name="adj" fmla="val 8974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002536"/>
            <a:ext cx="2231136" cy="37088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Domain Schema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2349094"/>
            <a:ext cx="223113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JSON 图模型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3054096"/>
            <a:ext cx="2377440" cy="713232"/>
          </a:xfrm>
          <a:prstGeom prst="roundRect">
            <a:avLst>
              <a:gd name="adj" fmla="val 8974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099816"/>
            <a:ext cx="2231136" cy="37088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Guidelines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3446374"/>
            <a:ext cx="223113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TXT / PDF 语料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4151376"/>
            <a:ext cx="2377440" cy="713232"/>
          </a:xfrm>
          <a:prstGeom prst="roundRect">
            <a:avLst>
              <a:gd name="adj" fmla="val 8974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4197096"/>
            <a:ext cx="2231136" cy="37088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Manual High-risk Seed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" y="4543654"/>
            <a:ext cx="223113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人工策展阈值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74720" y="1956816"/>
            <a:ext cx="237744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7872" y="2002536"/>
            <a:ext cx="2231136" cy="3233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TBox Compiler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547872" y="2298802"/>
            <a:ext cx="2231136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JSON → OWL TBox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74720" y="2734056"/>
            <a:ext cx="237744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2779776"/>
            <a:ext cx="2231136" cy="3233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Source Registry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547872" y="3076042"/>
            <a:ext cx="2231136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SHA-256 · 来源身份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4720" y="3511296"/>
            <a:ext cx="237744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47872" y="3557016"/>
            <a:ext cx="2231136" cy="3233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Schema-guided Extraction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547872" y="3853282"/>
            <a:ext cx="2231136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原文锚定候选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74720" y="4288536"/>
            <a:ext cx="237744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47872" y="4334256"/>
            <a:ext cx="2231136" cy="3233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Deterministic Alignment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547872" y="4630522"/>
            <a:ext cx="2231136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校验 · 对齐 · 发射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09360" y="1956816"/>
            <a:ext cx="23774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25400">
            <a:solidFill>
              <a:srgbClr val="E5B2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2002536"/>
            <a:ext cx="2231136" cy="37088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SHACL Validation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382512" y="2349094"/>
            <a:ext cx="223113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闭世界结构与安全约束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309360" y="3054096"/>
            <a:ext cx="23774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25400">
            <a:solidFill>
              <a:srgbClr val="E5B2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82512" y="3099816"/>
            <a:ext cx="2231136" cy="37088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Passage Verification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382512" y="3446374"/>
            <a:ext cx="223113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逐字回原文 · SHA-256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309360" y="4151376"/>
            <a:ext cx="23774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25400">
            <a:solidFill>
              <a:srgbClr val="E5B2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82512" y="4197096"/>
            <a:ext cx="2231136" cy="37088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GraphDB Acceptance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382512" y="4543654"/>
            <a:ext cx="223113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推理与图层验收查询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144000" y="1956816"/>
            <a:ext cx="2377440" cy="713232"/>
          </a:xfrm>
          <a:prstGeom prst="roundRect">
            <a:avLst>
              <a:gd name="adj" fmla="val 8974"/>
            </a:avLst>
          </a:prstGeom>
          <a:solidFill>
            <a:srgbClr val="E4F3F0"/>
          </a:solidFill>
          <a:ln w="12700">
            <a:solidFill>
              <a:srgbClr val="E4F3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17152" y="2002536"/>
            <a:ext cx="2231136" cy="37088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Named Graphs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9217152" y="2349094"/>
            <a:ext cx="223113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TBox · seed · sources · extract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144000" y="3054096"/>
            <a:ext cx="2377440" cy="713232"/>
          </a:xfrm>
          <a:prstGeom prst="roundRect">
            <a:avLst>
              <a:gd name="adj" fmla="val 8974"/>
            </a:avLst>
          </a:prstGeom>
          <a:solidFill>
            <a:srgbClr val="E4F3F0"/>
          </a:solidFill>
          <a:ln w="12700">
            <a:solidFill>
              <a:srgbClr val="E4F3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17152" y="3099816"/>
            <a:ext cx="2231136" cy="37088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Executable Rules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9217152" y="3446374"/>
            <a:ext cx="223113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SPARQL CONSTRUCT 链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9144000" y="4151376"/>
            <a:ext cx="2377440" cy="713232"/>
          </a:xfrm>
          <a:prstGeom prst="roundRect">
            <a:avLst>
              <a:gd name="adj" fmla="val 8974"/>
            </a:avLst>
          </a:prstGeom>
          <a:solidFill>
            <a:srgbClr val="E4F3F0"/>
          </a:solidFill>
          <a:ln w="12700">
            <a:solidFill>
              <a:srgbClr val="E4F3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217152" y="4197096"/>
            <a:ext cx="2231136" cy="37088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Build Report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9217152" y="4543654"/>
            <a:ext cx="223113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版本与差异记录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090672" y="3291840"/>
            <a:ext cx="310896" cy="0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5925312" y="3291840"/>
            <a:ext cx="310896" cy="0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8759952" y="3291840"/>
            <a:ext cx="310896" cy="0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640080" y="5440680"/>
            <a:ext cx="10911535" cy="457200"/>
          </a:xfrm>
          <a:prstGeom prst="roundRect">
            <a:avLst>
              <a:gd name="adj" fmla="val 12000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2960" y="544068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B8860B"/>
                </a:solidFill>
                <a:latin typeface="Arial" pitchFamily="34" charset="0"/>
                <a:ea typeface="+mn-ea"/>
                <a:cs typeface="Arial" pitchFamily="34" charset="-120"/>
              </a:rPr>
              <a:t>当前门禁状态：Passages 31 / 31 通过    ·    SHACL 12 条违规（10 条已知基线 · 2 条新增）—— 不是一条全绿流水线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40" kern="0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EXTRACTION POLICY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高风险知识不交给 LLM 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5C2"/>
                </a:solidFill>
                <a:latin typeface="Arial" pitchFamily="34" charset="0"/>
                <a:ea typeface="+mn-ea"/>
                <a:cs typeface="Arial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5C2"/>
                </a:solidFill>
                <a:latin typeface="Arial" pitchFamily="34" charset="0"/>
                <a:ea typeface="+mn-ea"/>
                <a:cs typeface="Arial" pitchFamily="34" charset="-120"/>
              </a:rPr>
              <a:t>07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663440" y="1481328"/>
            <a:ext cx="2834640" cy="512064"/>
          </a:xfrm>
          <a:prstGeom prst="roundRect">
            <a:avLst>
              <a:gd name="adj" fmla="val 12500"/>
            </a:avLst>
          </a:prstGeom>
          <a:solidFill>
            <a:srgbClr val="11202F"/>
          </a:solidFill>
          <a:ln w="12700">
            <a:solidFill>
              <a:srgbClr val="1120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36592" y="1481328"/>
            <a:ext cx="2688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Knowledge Type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 flipH="1">
            <a:off x="1828800" y="1993392"/>
            <a:ext cx="4251960" cy="292608"/>
          </a:xfrm>
          <a:prstGeom prst="line">
            <a:avLst/>
          </a:prstGeom>
          <a:noFill/>
          <a:ln w="15875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0080" y="2286000"/>
            <a:ext cx="2377440" cy="402336"/>
          </a:xfrm>
          <a:prstGeom prst="roundRect">
            <a:avLst>
              <a:gd name="adj" fmla="val 13636"/>
            </a:avLst>
          </a:prstGeom>
          <a:solidFill>
            <a:srgbClr val="0E8C7D"/>
          </a:solidFill>
          <a:ln w="12700">
            <a:solidFill>
              <a:srgbClr val="0E8C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860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LLM POLICY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761488"/>
            <a:ext cx="2377440" cy="1051560"/>
          </a:xfrm>
          <a:prstGeom prst="roundRect">
            <a:avLst>
              <a:gd name="adj" fmla="val 5217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871216"/>
            <a:ext cx="20482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Courier New" pitchFamily="34" charset="0"/>
                <a:ea typeface="+mn-ea"/>
                <a:cs typeface="Courier New" pitchFamily="34" charset="-120"/>
              </a:rPr>
              <a:t>entities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Courier New" pitchFamily="34" charset="0"/>
                <a:ea typeface="+mn-ea"/>
                <a:cs typeface="Courier New" pitchFamily="34" charset="-120"/>
              </a:rPr>
              <a:t>relations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Courier New" pitchFamily="34" charset="0"/>
                <a:ea typeface="+mn-ea"/>
                <a:cs typeface="Courier New" pitchFamily="34" charset="-120"/>
              </a:rPr>
              <a:t>quote-anchored candidates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0" y="3813048"/>
            <a:ext cx="0" cy="411480"/>
          </a:xfrm>
          <a:prstGeom prst="line">
            <a:avLst/>
          </a:prstGeom>
          <a:noFill/>
          <a:ln w="15875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 flipH="1">
            <a:off x="4663440" y="1993392"/>
            <a:ext cx="1417320" cy="292608"/>
          </a:xfrm>
          <a:prstGeom prst="line">
            <a:avLst/>
          </a:prstGeom>
          <a:noFill/>
          <a:ln w="15875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474720" y="2286000"/>
            <a:ext cx="2377440" cy="402336"/>
          </a:xfrm>
          <a:prstGeom prst="roundRect">
            <a:avLst>
              <a:gd name="adj" fmla="val 13636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22860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MANUAL POLICY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0" y="2761488"/>
            <a:ext cx="2377440" cy="1051560"/>
          </a:xfrm>
          <a:prstGeom prst="roundRect">
            <a:avLst>
              <a:gd name="adj" fmla="val 5217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39312" y="2871216"/>
            <a:ext cx="20482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Courier New" pitchFamily="34" charset="0"/>
                <a:ea typeface="+mn-ea"/>
                <a:cs typeface="Courier New" pitchFamily="34" charset="-120"/>
              </a:rPr>
              <a:t>DiagnosticThreshold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Courier New" pitchFamily="34" charset="0"/>
                <a:ea typeface="+mn-ea"/>
                <a:cs typeface="Courier New" pitchFamily="34" charset="-120"/>
              </a:rPr>
              <a:t>GlycemicTarget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Courier New" pitchFamily="34" charset="0"/>
                <a:ea typeface="+mn-ea"/>
                <a:cs typeface="Courier New" pitchFamily="34" charset="-120"/>
              </a:rPr>
              <a:t>人工策展 seed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3813048"/>
            <a:ext cx="0" cy="411480"/>
          </a:xfrm>
          <a:prstGeom prst="line">
            <a:avLst/>
          </a:prstGeom>
          <a:noFill/>
          <a:ln w="15875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80760" y="1993392"/>
            <a:ext cx="1417320" cy="292608"/>
          </a:xfrm>
          <a:prstGeom prst="line">
            <a:avLst/>
          </a:prstGeom>
          <a:noFill/>
          <a:ln w="15875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309360" y="2286000"/>
            <a:ext cx="2377440" cy="402336"/>
          </a:xfrm>
          <a:prstGeom prst="roundRect">
            <a:avLst>
              <a:gd name="adj" fmla="val 13636"/>
            </a:avLst>
          </a:prstGeom>
          <a:solidFill>
            <a:srgbClr val="44576B"/>
          </a:solidFill>
          <a:ln w="12700">
            <a:solidFill>
              <a:srgbClr val="4457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22860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REGISTRY POLICY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2761488"/>
            <a:ext cx="2377440" cy="1051560"/>
          </a:xfrm>
          <a:prstGeom prst="roundRect">
            <a:avLst>
              <a:gd name="adj" fmla="val 5217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3952" y="2871216"/>
            <a:ext cx="20482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Courier New" pitchFamily="34" charset="0"/>
                <a:ea typeface="+mn-ea"/>
                <a:cs typeface="Courier New" pitchFamily="34" charset="-120"/>
              </a:rPr>
              <a:t>source identity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Courier New" pitchFamily="34" charset="0"/>
                <a:ea typeface="+mn-ea"/>
                <a:cs typeface="Courier New" pitchFamily="34" charset="-120"/>
              </a:rPr>
              <a:t>file SHA-256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Courier New" pitchFamily="34" charset="0"/>
                <a:ea typeface="+mn-ea"/>
                <a:cs typeface="Courier New" pitchFamily="34" charset="-120"/>
              </a:rPr>
              <a:t>publisher · year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498080" y="3813048"/>
            <a:ext cx="0" cy="411480"/>
          </a:xfrm>
          <a:prstGeom prst="line">
            <a:avLst/>
          </a:prstGeom>
          <a:noFill/>
          <a:ln w="15875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080760" y="1993392"/>
            <a:ext cx="4251960" cy="292608"/>
          </a:xfrm>
          <a:prstGeom prst="line">
            <a:avLst/>
          </a:prstGeom>
          <a:noFill/>
          <a:ln w="15875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144000" y="2286000"/>
            <a:ext cx="2377440" cy="402336"/>
          </a:xfrm>
          <a:prstGeom prst="roundRect">
            <a:avLst>
              <a:gd name="adj" fmla="val 13636"/>
            </a:avLst>
          </a:prstGeom>
          <a:solidFill>
            <a:srgbClr val="44576B"/>
          </a:solidFill>
          <a:ln w="12700">
            <a:solidFill>
              <a:srgbClr val="4457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0" y="22860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DERIVED POLICY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144000" y="2761488"/>
            <a:ext cx="2377440" cy="1051560"/>
          </a:xfrm>
          <a:prstGeom prst="roundRect">
            <a:avLst>
              <a:gd name="adj" fmla="val 5217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08592" y="2871216"/>
            <a:ext cx="20482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Courier New" pitchFamily="34" charset="0"/>
                <a:ea typeface="+mn-ea"/>
                <a:cs typeface="Courier New" pitchFamily="34" charset="-120"/>
              </a:rPr>
              <a:t>派生结构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Courier New" pitchFamily="34" charset="0"/>
                <a:ea typeface="+mn-ea"/>
                <a:cs typeface="Courier New" pitchFamily="34" charset="-120"/>
              </a:rPr>
              <a:t>对齐产物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Courier New" pitchFamily="34" charset="0"/>
                <a:ea typeface="+mn-ea"/>
                <a:cs typeface="Courier New" pitchFamily="34" charset="-120"/>
              </a:rPr>
              <a:t>构建报告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332720" y="3813048"/>
            <a:ext cx="0" cy="411480"/>
          </a:xfrm>
          <a:prstGeom prst="line">
            <a:avLst/>
          </a:prstGeom>
          <a:noFill/>
          <a:ln w="15875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 flipH="1">
            <a:off x="3035808" y="3127248"/>
            <a:ext cx="420624" cy="0"/>
          </a:xfrm>
          <a:prstGeom prst="line">
            <a:avLst/>
          </a:prstGeom>
          <a:noFill/>
          <a:ln w="19050">
            <a:solidFill>
              <a:srgbClr val="A93B30"/>
            </a:solidFill>
            <a:prstDash val="dash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2971800" y="276148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93B30"/>
                </a:solidFill>
                <a:latin typeface="Arial" pitchFamily="34" charset="0"/>
                <a:ea typeface="+mn-ea"/>
                <a:cs typeface="Arial" pitchFamily="34" charset="-120"/>
              </a:rPr>
              <a:t>×</a:t>
            </a:r>
            <a:endParaRPr lang="en-US" sz="2600" dirty="0"/>
          </a:p>
        </p:txBody>
      </p:sp>
      <p:sp>
        <p:nvSpPr>
          <p:cNvPr id="34" name="Shape 32"/>
          <p:cNvSpPr/>
          <p:nvPr/>
        </p:nvSpPr>
        <p:spPr>
          <a:xfrm>
            <a:off x="640080" y="4224528"/>
            <a:ext cx="777240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11202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4224528"/>
            <a:ext cx="7626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Deterministic Validation  ·  确定性校验 · 对齐 · 发射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485632" y="4480560"/>
            <a:ext cx="274320" cy="0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796528" y="4224528"/>
            <a:ext cx="2743200" cy="512064"/>
          </a:xfrm>
          <a:prstGeom prst="roundRect">
            <a:avLst>
              <a:gd name="adj" fmla="val 12500"/>
            </a:avLst>
          </a:prstGeom>
          <a:solidFill>
            <a:srgbClr val="E4F3F0"/>
          </a:solidFill>
          <a:ln w="15875">
            <a:solidFill>
              <a:srgbClr val="0E8C7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69680" y="4224528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Runtime Knowledge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640080" y="4919472"/>
            <a:ext cx="5257800" cy="1225296"/>
          </a:xfrm>
          <a:prstGeom prst="roundRect">
            <a:avLst>
              <a:gd name="adj" fmla="val 3731"/>
            </a:avLst>
          </a:prstGeom>
          <a:solidFill>
            <a:srgbClr val="EDF1F6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8096" y="5010912"/>
            <a:ext cx="5001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C8CA0"/>
                </a:solidFill>
                <a:latin typeface="Courier New" pitchFamily="34" charset="0"/>
                <a:ea typeface="+mn-ea"/>
                <a:cs typeface="Courier New" pitchFamily="34" charset="-120"/>
              </a:rPr>
              <a:t>ontology/tools/semantic_extract.py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68096" y="5212080"/>
            <a:ext cx="50017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itchFamily="34" charset="0"/>
                <a:ea typeface="+mn-ea"/>
                <a:cs typeface="Courier New" pitchFamily="34" charset="-120"/>
              </a:rPr>
              <a:t>POLICY_LLM, POLICY_MANUAL, POLICY_REGISTRY, POLICY_DERIVED = (</a:t>
            </a:r>
            <a:endParaRPr lang="en-US" sz="80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itchFamily="34" charset="0"/>
                <a:ea typeface="+mn-ea"/>
                <a:cs typeface="Courier New" pitchFamily="34" charset="-120"/>
              </a:rPr>
              <a:t>    "llm", "manual", "registry", "derived"</a:t>
            </a:r>
            <a:endParaRPr lang="en-US" sz="80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itchFamily="34" charset="0"/>
                <a:ea typeface="+mn-ea"/>
                <a:cs typeface="Courier New" pitchFamily="34" charset="-120"/>
              </a:rPr>
              <a:t>)</a:t>
            </a:r>
            <a:endParaRPr lang="en-US" sz="80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itchFamily="34" charset="0"/>
                <a:ea typeface="+mn-ea"/>
                <a:cs typeface="Courier New" pitchFamily="34" charset="-120"/>
              </a:rPr>
              <a:t>def extractable(self) -&gt; list[str]:</a:t>
            </a:r>
            <a:endParaRPr lang="en-US" sz="80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itchFamily="34" charset="0"/>
                <a:ea typeface="+mn-ea"/>
                <a:cs typeface="Courier New" pitchFamily="34" charset="-120"/>
              </a:rPr>
              <a:t>    return [eid for eid in self.entities</a:t>
            </a:r>
            <a:endParaRPr lang="en-US" sz="80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itchFamily="34" charset="0"/>
                <a:ea typeface="+mn-ea"/>
                <a:cs typeface="Courier New" pitchFamily="34" charset="-120"/>
              </a:rPr>
              <a:t>            if self.policy(eid) == POLICY_LLM]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309360" y="4919472"/>
            <a:ext cx="5239512" cy="1225296"/>
          </a:xfrm>
          <a:prstGeom prst="roundRect">
            <a:avLst>
              <a:gd name="adj" fmla="val 5224"/>
            </a:avLst>
          </a:prstGeom>
          <a:solidFill>
            <a:srgbClr val="F9EBE9"/>
          </a:solidFill>
          <a:ln w="12700">
            <a:solidFill>
              <a:srgbClr val="F9EB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5084064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93B30"/>
                </a:solidFill>
                <a:latin typeface="Arial" pitchFamily="34" charset="0"/>
                <a:ea typeface="+mn-ea"/>
                <a:cs typeface="Arial" pitchFamily="34" charset="-120"/>
              </a:rPr>
              <a:t>×    DiagnosticThreshold  →  LLM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537960" y="5468112"/>
            <a:ext cx="4800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93B30"/>
                </a:solidFill>
                <a:latin typeface="Arial" pitchFamily="34" charset="0"/>
                <a:ea typeface="+mn-ea"/>
                <a:cs typeface="Arial" pitchFamily="34" charset="-120"/>
              </a:rPr>
              <a:t>诊断切点错 0.1 就会改变患者结论。阈值与管理目标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93B30"/>
                </a:solidFill>
                <a:latin typeface="Arial" pitchFamily="34" charset="0"/>
                <a:ea typeface="+mn-ea"/>
                <a:cs typeface="Arial" pitchFamily="34" charset="-120"/>
              </a:rPr>
              <a:t>被 policy 设为 manual，模型不会生成它们。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40" kern="0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SYSTEM 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知识与患者数据分开治理，在推理时才汇合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5C2"/>
                </a:solidFill>
                <a:latin typeface="Arial" pitchFamily="34" charset="0"/>
                <a:ea typeface="+mn-ea"/>
                <a:cs typeface="Arial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5C2"/>
                </a:solidFill>
                <a:latin typeface="Arial" pitchFamily="34" charset="0"/>
                <a:ea typeface="+mn-ea"/>
                <a:cs typeface="Arial" pitchFamily="34" charset="-120"/>
              </a:rPr>
              <a:t>08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2743200" cy="1783080"/>
          </a:xfrm>
          <a:prstGeom prst="roundRect">
            <a:avLst>
              <a:gd name="adj" fmla="val 4103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691640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KNOWLEDGE PLANE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04672" y="2011680"/>
            <a:ext cx="2414016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011680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JSON Schema · Guidelines · Seed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04672" y="2414016"/>
            <a:ext cx="2414016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414016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Ontology Build Tools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4672" y="2816352"/>
            <a:ext cx="2414016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816352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Knowledge Named Graphs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3584448"/>
            <a:ext cx="2743200" cy="1783080"/>
          </a:xfrm>
          <a:prstGeom prst="roundRect">
            <a:avLst>
              <a:gd name="adj" fmla="val 4103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703320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PATIENT FACT PLANE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04672" y="4023360"/>
            <a:ext cx="2414016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023360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Read-only Upstream PG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4672" y="4425696"/>
            <a:ext cx="2414016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4425696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Staging / Mapping / Core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04672" y="4828032"/>
            <a:ext cx="2414016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4828032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202F"/>
                </a:solidFill>
                <a:latin typeface="Courier New" pitchFamily="34" charset="0"/>
                <a:ea typeface="+mn-ea"/>
                <a:cs typeface="Courier New" pitchFamily="34" charset="-120"/>
              </a:rPr>
              <a:t>urn:dmo:patient:{pid}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794760" y="1572768"/>
            <a:ext cx="434340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25400">
            <a:solidFill>
              <a:srgbClr val="11202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86200" y="1664208"/>
            <a:ext cx="416052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69080" y="18288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GRAPHDB DATASET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069080" y="21031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OWL-RL  ·  SPARQL Rules  ·  SHACL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069080" y="2487168"/>
            <a:ext cx="3794760" cy="896112"/>
          </a:xfrm>
          <a:prstGeom prst="roundRect">
            <a:avLst>
              <a:gd name="adj" fmla="val 6122"/>
            </a:avLst>
          </a:prstGeom>
          <a:solidFill>
            <a:srgbClr val="F5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0" y="257860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ASSERTED FACTS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06240" y="283464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1202F"/>
                </a:solidFill>
                <a:latin typeface="Courier New" pitchFamily="34" charset="0"/>
                <a:ea typeface="+mn-ea"/>
                <a:cs typeface="Courier New" pitchFamily="34" charset="-120"/>
              </a:rPr>
              <a:t>knowledge named graphs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1202F"/>
                </a:solidFill>
                <a:latin typeface="Courier New" pitchFamily="34" charset="0"/>
                <a:ea typeface="+mn-ea"/>
                <a:cs typeface="Courier New" pitchFamily="34" charset="-120"/>
              </a:rPr>
              <a:t>urn:dmo:patient:{pid}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61888" y="3456432"/>
            <a:ext cx="0" cy="256032"/>
          </a:xfrm>
          <a:prstGeom prst="line">
            <a:avLst/>
          </a:prstGeom>
          <a:noFill/>
          <a:ln w="19050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069080" y="3712464"/>
            <a:ext cx="3794760" cy="685800"/>
          </a:xfrm>
          <a:prstGeom prst="roundRect">
            <a:avLst>
              <a:gd name="adj" fmla="val 8000"/>
            </a:avLst>
          </a:prstGeom>
          <a:solidFill>
            <a:srgbClr val="E4F3F0"/>
          </a:solidFill>
          <a:ln w="15875">
            <a:solidFill>
              <a:srgbClr val="0E8C7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0" y="378561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INFERRED CONCLUSIONS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206240" y="40416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6A5F"/>
                </a:solidFill>
                <a:latin typeface="Courier New" pitchFamily="34" charset="0"/>
                <a:ea typeface="+mn-ea"/>
                <a:cs typeface="Courier New" pitchFamily="34" charset="-120"/>
              </a:rPr>
              <a:t>urn:dmo:inferred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069080" y="457200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Asserted facts  ≠  Inferred conclusions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记录了什么 / 推导了什么，物理分层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456432" y="2468880"/>
            <a:ext cx="283464" cy="0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456432" y="4480560"/>
            <a:ext cx="283464" cy="0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686800" y="1572768"/>
            <a:ext cx="2862072" cy="237744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51392" y="1691640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ACCESS PLANE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851392" y="2011680"/>
            <a:ext cx="253288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51392" y="2011680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FastAPI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851392" y="2560320"/>
            <a:ext cx="253288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851392" y="2560320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CLI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851392" y="3108960"/>
            <a:ext cx="253288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9B5C2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8851392" y="3108960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External Agent   (调用方，非仓库内置)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174736" y="2651760"/>
            <a:ext cx="457200" cy="0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triangl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8686800" y="4343400"/>
            <a:ext cx="286207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E5B23C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8851392" y="4462272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Arial" pitchFamily="34" charset="0"/>
                <a:ea typeface="+mn-ea"/>
                <a:cs typeface="Arial" pitchFamily="34" charset="-120"/>
              </a:rPr>
              <a:t>In-memory Simulation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851392" y="4736592"/>
            <a:ext cx="253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读取知识与患者快照</a:t>
            </a:r>
            <a:endParaRPr lang="en-US" sz="9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GraphDB writes = 0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174736" y="4846320"/>
            <a:ext cx="457200" cy="0"/>
          </a:xfrm>
          <a:prstGeom prst="line">
            <a:avLst/>
          </a:prstGeom>
          <a:noFill/>
          <a:ln w="15875">
            <a:solidFill>
              <a:srgbClr val="E5B23C"/>
            </a:solidFill>
            <a:prstDash val="dash"/>
            <a:headEnd type="none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640080" y="56235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知识声明 · 患者事实 · 推断结果物理分层，系统才能区分“记录了什么”和“推导了什么”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40" kern="0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REQUEST FLOW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一次回答，要穿过数据、语义、规则和来源四道关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5C2"/>
                </a:solidFill>
                <a:latin typeface="Arial" pitchFamily="34" charset="0"/>
                <a:ea typeface="+mn-ea"/>
                <a:cs typeface="Arial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5C2"/>
                </a:solidFill>
                <a:latin typeface="Arial" pitchFamily="34" charset="0"/>
                <a:ea typeface="+mn-ea"/>
                <a:cs typeface="Arial" pitchFamily="34" charset="-120"/>
              </a:rPr>
              <a:t>09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3682" y="1572768"/>
            <a:ext cx="1975104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875">
            <a:solidFill>
              <a:srgbClr val="1120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3682" y="1572768"/>
            <a:ext cx="1975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Caller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31234" y="2103120"/>
            <a:ext cx="0" cy="3017520"/>
          </a:xfrm>
          <a:prstGeom prst="line">
            <a:avLst/>
          </a:prstGeom>
          <a:noFill/>
          <a:ln w="12700">
            <a:solidFill>
              <a:srgbClr val="D9E0E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925989" y="1572768"/>
            <a:ext cx="1975104" cy="475488"/>
          </a:xfrm>
          <a:prstGeom prst="roundRect">
            <a:avLst>
              <a:gd name="adj" fmla="val 11538"/>
            </a:avLst>
          </a:prstGeom>
          <a:solidFill>
            <a:srgbClr val="11202F"/>
          </a:solidFill>
          <a:ln w="15875">
            <a:solidFill>
              <a:srgbClr val="1120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5989" y="1572768"/>
            <a:ext cx="1975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FastAPI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13541" y="2103120"/>
            <a:ext cx="0" cy="3017520"/>
          </a:xfrm>
          <a:prstGeom prst="line">
            <a:avLst/>
          </a:prstGeom>
          <a:noFill/>
          <a:ln w="12700">
            <a:solidFill>
              <a:srgbClr val="D9E0E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5108296" y="1572768"/>
            <a:ext cx="1975104" cy="475488"/>
          </a:xfrm>
          <a:prstGeom prst="roundRect">
            <a:avLst>
              <a:gd name="adj" fmla="val 11538"/>
            </a:avLst>
          </a:prstGeom>
          <a:solidFill>
            <a:srgbClr val="11202F"/>
          </a:solidFill>
          <a:ln w="15875">
            <a:solidFill>
              <a:srgbClr val="1120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08296" y="1572768"/>
            <a:ext cx="1975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95848" y="2103120"/>
            <a:ext cx="0" cy="3017520"/>
          </a:xfrm>
          <a:prstGeom prst="line">
            <a:avLst/>
          </a:prstGeom>
          <a:noFill/>
          <a:ln w="12700">
            <a:solidFill>
              <a:srgbClr val="D9E0E8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290603" y="1572768"/>
            <a:ext cx="1975104" cy="475488"/>
          </a:xfrm>
          <a:prstGeom prst="roundRect">
            <a:avLst>
              <a:gd name="adj" fmla="val 11538"/>
            </a:avLst>
          </a:prstGeom>
          <a:solidFill>
            <a:srgbClr val="11202F"/>
          </a:solidFill>
          <a:ln w="15875">
            <a:solidFill>
              <a:srgbClr val="1120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90603" y="1572768"/>
            <a:ext cx="1975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GraphDB + Rules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78155" y="2103120"/>
            <a:ext cx="0" cy="3017520"/>
          </a:xfrm>
          <a:prstGeom prst="line">
            <a:avLst/>
          </a:prstGeom>
          <a:noFill/>
          <a:ln w="12700">
            <a:solidFill>
              <a:srgbClr val="D9E0E8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9472910" y="1572768"/>
            <a:ext cx="1975104" cy="475488"/>
          </a:xfrm>
          <a:prstGeom prst="roundRect">
            <a:avLst>
              <a:gd name="adj" fmla="val 11538"/>
            </a:avLst>
          </a:prstGeom>
          <a:solidFill>
            <a:srgbClr val="11202F"/>
          </a:solidFill>
          <a:ln w="15875">
            <a:solidFill>
              <a:srgbClr val="1120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72910" y="1572768"/>
            <a:ext cx="1975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Evidence Assembler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460462" y="2103120"/>
            <a:ext cx="0" cy="3017520"/>
          </a:xfrm>
          <a:prstGeom prst="line">
            <a:avLst/>
          </a:prstGeom>
          <a:noFill/>
          <a:ln w="12700">
            <a:solidFill>
              <a:srgbClr val="D9E0E8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731234" y="2395728"/>
            <a:ext cx="2182307" cy="0"/>
          </a:xfrm>
          <a:prstGeom prst="line">
            <a:avLst/>
          </a:prstGeom>
          <a:noFill/>
          <a:ln w="15875">
            <a:solidFill>
              <a:srgbClr val="44576B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731234" y="2139696"/>
            <a:ext cx="21823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patient request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913541" y="2807208"/>
            <a:ext cx="2182307" cy="0"/>
          </a:xfrm>
          <a:prstGeom prst="line">
            <a:avLst/>
          </a:prstGeom>
          <a:noFill/>
          <a:ln w="15875">
            <a:solidFill>
              <a:srgbClr val="44576B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3913541" y="2551176"/>
            <a:ext cx="21823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1  Find  ·  find patient / source rows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 flipH="1">
            <a:off x="3913541" y="3218688"/>
            <a:ext cx="2182307" cy="0"/>
          </a:xfrm>
          <a:prstGeom prst="line">
            <a:avLst/>
          </a:prstGeom>
          <a:noFill/>
          <a:ln w="15875">
            <a:solidFill>
              <a:srgbClr val="44576B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3913541" y="2962656"/>
            <a:ext cx="21823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2  Interpret  ·  term · unit · trust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913541" y="3630168"/>
            <a:ext cx="4364614" cy="0"/>
          </a:xfrm>
          <a:prstGeom prst="line">
            <a:avLst/>
          </a:prstGeom>
          <a:noFill/>
          <a:ln w="15875">
            <a:solidFill>
              <a:srgbClr val="44576B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3913541" y="3374136"/>
            <a:ext cx="43646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3  Reason  ·  query patient graph, run / read rules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 flipH="1">
            <a:off x="3913541" y="4041648"/>
            <a:ext cx="4364614" cy="0"/>
          </a:xfrm>
          <a:prstGeom prst="line">
            <a:avLst/>
          </a:prstGeom>
          <a:noFill/>
          <a:ln w="15875">
            <a:solidFill>
              <a:srgbClr val="44576B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3913541" y="3785616"/>
            <a:ext cx="43646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assessment / diagnosis / risk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913541" y="4453128"/>
            <a:ext cx="6546921" cy="0"/>
          </a:xfrm>
          <a:prstGeom prst="line">
            <a:avLst/>
          </a:prstGeom>
          <a:noFill/>
          <a:ln w="15875">
            <a:solidFill>
              <a:srgbClr val="44576B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3913541" y="4197096"/>
            <a:ext cx="65469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4  Prove  ·  trace rules + verbatim passages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 flipH="1">
            <a:off x="1731234" y="4864608"/>
            <a:ext cx="8729228" cy="0"/>
          </a:xfrm>
          <a:prstGeom prst="line">
            <a:avLst/>
          </a:prstGeom>
          <a:noFill/>
          <a:ln w="22225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731234" y="4608576"/>
            <a:ext cx="87292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evidence package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0080" y="5440680"/>
            <a:ext cx="2514600" cy="475488"/>
          </a:xfrm>
          <a:prstGeom prst="roundRect">
            <a:avLst>
              <a:gd name="adj" fmla="val 13462"/>
            </a:avLst>
          </a:prstGeom>
          <a:solidFill>
            <a:srgbClr val="E4F3F0"/>
          </a:solidFill>
          <a:ln w="12700">
            <a:solidFill>
              <a:srgbClr val="E4F3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544068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asserted facts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438144" y="5440680"/>
            <a:ext cx="2514600" cy="475488"/>
          </a:xfrm>
          <a:prstGeom prst="roundRect">
            <a:avLst>
              <a:gd name="adj" fmla="val 13462"/>
            </a:avLst>
          </a:prstGeom>
          <a:solidFill>
            <a:srgbClr val="E4F3F0"/>
          </a:solidFill>
          <a:ln w="12700">
            <a:solidFill>
              <a:srgbClr val="E4F3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38144" y="544068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inferred facts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36208" y="5440680"/>
            <a:ext cx="2514600" cy="475488"/>
          </a:xfrm>
          <a:prstGeom prst="roundRect">
            <a:avLst>
              <a:gd name="adj" fmla="val 13462"/>
            </a:avLst>
          </a:prstGeom>
          <a:solidFill>
            <a:srgbClr val="E4F3F0"/>
          </a:solidFill>
          <a:ln w="12700">
            <a:solidFill>
              <a:srgbClr val="E4F3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36208" y="544068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sources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034272" y="5440680"/>
            <a:ext cx="2514600" cy="475488"/>
          </a:xfrm>
          <a:prstGeom prst="roundRect">
            <a:avLst>
              <a:gd name="adj" fmla="val 13462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34272" y="544068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Arial" pitchFamily="34" charset="0"/>
                <a:ea typeface="+mn-ea"/>
                <a:cs typeface="Arial" pitchFamily="34" charset="-120"/>
              </a:rPr>
              <a:t>gaps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40080" y="601675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Response Envelope —— 输出不是一个答案字符串，而是四层可分别检查的证据结构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40" kern="0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EVIDENCE CASE · CONFIRMATION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A1C 7.4% 落入糖尿病区间，但单次异常仍不是确诊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5C2"/>
                </a:solidFill>
                <a:latin typeface="Arial" pitchFamily="34" charset="0"/>
                <a:ea typeface="+mn-ea"/>
                <a:cs typeface="Arial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5C2"/>
                </a:solidFill>
                <a:latin typeface="Arial" pitchFamily="34" charset="0"/>
                <a:ea typeface="+mn-ea"/>
                <a:cs typeface="Arial" pitchFamily="34" charset="-120"/>
              </a:rPr>
              <a:t>10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4937760" cy="3246120"/>
          </a:xfrm>
          <a:prstGeom prst="roundRect">
            <a:avLst>
              <a:gd name="adj" fmla="val 2535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P90002  ·  1 个检测日期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2139696"/>
            <a:ext cx="21031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185416"/>
            <a:ext cx="1956816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Day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41832" y="2501798"/>
            <a:ext cx="1956816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A1C  7.4 %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920240" y="2798064"/>
            <a:ext cx="0" cy="274320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68680" y="3072384"/>
            <a:ext cx="44805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3072384"/>
            <a:ext cx="4334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Assessment:  DiabetesRange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108960" y="3621024"/>
            <a:ext cx="0" cy="274320"/>
          </a:xfrm>
          <a:prstGeom prst="line">
            <a:avLst/>
          </a:prstGeom>
          <a:noFill/>
          <a:ln w="19050">
            <a:solidFill>
              <a:srgbClr val="E5B23C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68680" y="3895344"/>
            <a:ext cx="4480560" cy="658368"/>
          </a:xfrm>
          <a:prstGeom prst="roundRect">
            <a:avLst>
              <a:gd name="adj" fmla="val 9722"/>
            </a:avLst>
          </a:prstGeom>
          <a:solidFill>
            <a:srgbClr val="FAF1DE"/>
          </a:solidFill>
          <a:ln w="19050">
            <a:solidFill>
              <a:srgbClr val="E5B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3895344"/>
            <a:ext cx="4334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Arial" pitchFamily="34" charset="0"/>
                <a:ea typeface="+mn-ea"/>
                <a:cs typeface="Arial" pitchFamily="34" charset="-120"/>
              </a:rPr>
              <a:t>Diagnosis:  Provisional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611112" y="1572768"/>
            <a:ext cx="4937760" cy="3246120"/>
          </a:xfrm>
          <a:prstGeom prst="roundRect">
            <a:avLst>
              <a:gd name="adj" fmla="val 2535"/>
            </a:avLst>
          </a:prstGeom>
          <a:solidFill>
            <a:srgbClr val="E4F3F0"/>
          </a:solidFill>
          <a:ln w="12700">
            <a:solidFill>
              <a:srgbClr val="E4F3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9712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P90003  ·  2 个不同日期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39712" y="2139696"/>
            <a:ext cx="21031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12864" y="2185416"/>
            <a:ext cx="1956816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Day 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12864" y="2501798"/>
            <a:ext cx="1956816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A1C  7.1 %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217152" y="2139696"/>
            <a:ext cx="21031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90304" y="2185416"/>
            <a:ext cx="1956816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Day 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290304" y="2501798"/>
            <a:ext cx="1956816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A1C  7.3 %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979408" y="2468880"/>
            <a:ext cx="201168" cy="0"/>
          </a:xfrm>
          <a:prstGeom prst="line">
            <a:avLst/>
          </a:prstGeom>
          <a:noFill/>
          <a:ln w="19050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079992" y="2798064"/>
            <a:ext cx="0" cy="274320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839712" y="3072384"/>
            <a:ext cx="44805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12864" y="3072384"/>
            <a:ext cx="4334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Assessment ×2  ·  COUNT(DISTINCT day) = 2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9079992" y="3621024"/>
            <a:ext cx="0" cy="274320"/>
          </a:xfrm>
          <a:prstGeom prst="line">
            <a:avLst/>
          </a:prstGeom>
          <a:noFill/>
          <a:ln w="19050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839712" y="3895344"/>
            <a:ext cx="44805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0E8C7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12864" y="3895344"/>
            <a:ext cx="4334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Diagnosis:  Confirmed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669280" y="2834640"/>
            <a:ext cx="777240" cy="13716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0" y="283464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1 → 2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532120" y="342900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DISTINCT</a:t>
            </a:r>
            <a:endParaRPr lang="en-US" sz="8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days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40080" y="4983480"/>
            <a:ext cx="10911535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4983480"/>
            <a:ext cx="10454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共同底座：A1C threshold ≥ 6.5 %  ·  confirmationRequired = true      —— 阈值命中只是一次 Assessment，确认条件满足后才形成 Confirmed Diagnosis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0080" y="5623560"/>
            <a:ext cx="10911535" cy="411480"/>
          </a:xfrm>
          <a:prstGeom prst="roundRect">
            <a:avLst>
              <a:gd name="adj" fmla="val 13333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8680" y="5623560"/>
            <a:ext cx="10454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860B"/>
                </a:solidFill>
                <a:latin typeface="Arial" pitchFamily="34" charset="0"/>
                <a:ea typeface="+mn-ea"/>
                <a:cs typeface="Arial" pitchFamily="34" charset="-120"/>
              </a:rPr>
              <a:t>Evidence Needed · 集成用例 test_s02 / test_s03 已存在，但本次环境缺 PostgreSQL 与 GraphDB 而跳过；演示前需在完整环境重跑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40" kern="0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EVIDENCE CASE · UNITS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单位不是展示字段，而是会让结论翻转的业务语义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5C2"/>
                </a:solidFill>
                <a:latin typeface="Arial" pitchFamily="34" charset="0"/>
                <a:ea typeface="+mn-ea"/>
                <a:cs typeface="Arial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5C2"/>
                </a:solidFill>
                <a:latin typeface="Arial" pitchFamily="34" charset="0"/>
                <a:ea typeface="+mn-ea"/>
                <a:cs typeface="Arial" pitchFamily="34" charset="-120"/>
              </a:rPr>
              <a:t>11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847088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7.8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3456432" y="1847088"/>
            <a:ext cx="1051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mmol/L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17720" y="2002536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× 18.0182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709160" y="2871216"/>
            <a:ext cx="1737360" cy="0"/>
          </a:xfrm>
          <a:prstGeom prst="line">
            <a:avLst/>
          </a:prstGeom>
          <a:noFill/>
          <a:ln w="19050">
            <a:solidFill>
              <a:srgbClr val="0E8C7D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4617720" y="29077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verified factor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629400" y="1847088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140.54</a:t>
            </a:r>
            <a:endParaRPr lang="en-US" sz="6600" dirty="0"/>
          </a:p>
        </p:txBody>
      </p:sp>
      <p:sp>
        <p:nvSpPr>
          <p:cNvPr id="12" name="Text 10"/>
          <p:cNvSpPr/>
          <p:nvPr/>
        </p:nvSpPr>
        <p:spPr>
          <a:xfrm>
            <a:off x="9582912" y="1847088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mg/dL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966960" y="3035808"/>
            <a:ext cx="0" cy="310896"/>
          </a:xfrm>
          <a:prstGeom prst="line">
            <a:avLst/>
          </a:prstGeom>
          <a:noFill/>
          <a:ln w="19050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641080" y="3346704"/>
            <a:ext cx="2651760" cy="548640"/>
          </a:xfrm>
          <a:prstGeom prst="roundRect">
            <a:avLst>
              <a:gd name="adj" fmla="val 11667"/>
            </a:avLst>
          </a:prstGeom>
          <a:solidFill>
            <a:srgbClr val="E4F3F0"/>
          </a:solidFill>
          <a:ln w="15875">
            <a:solidFill>
              <a:srgbClr val="0E8C7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14232" y="3346704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FPG  DiabetesRange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1605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9EBE9"/>
          </a:solidFill>
          <a:ln w="12700">
            <a:solidFill>
              <a:srgbClr val="F9EB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297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93B30"/>
                </a:solidFill>
                <a:latin typeface="Arial" pitchFamily="34" charset="0"/>
                <a:ea typeface="+mn-ea"/>
                <a:cs typeface="Arial" pitchFamily="34" charset="-120"/>
              </a:rPr>
              <a:t>拒绝判定路径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" y="4645152"/>
            <a:ext cx="182880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46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" y="4690872"/>
            <a:ext cx="168249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93B30"/>
                </a:solidFill>
                <a:latin typeface="Arial" pitchFamily="34" charset="0"/>
                <a:ea typeface="+mn-ea"/>
                <a:cs typeface="Arial" pitchFamily="34" charset="-120"/>
              </a:rPr>
              <a:t>7.8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41832" y="4946904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3B30"/>
                </a:solidFill>
                <a:latin typeface="Arial" pitchFamily="34" charset="0"/>
                <a:ea typeface="+mn-ea"/>
                <a:cs typeface="Arial" pitchFamily="34" charset="-120"/>
              </a:rPr>
              <a:t>no valid unit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61488" y="4919472"/>
            <a:ext cx="438912" cy="0"/>
          </a:xfrm>
          <a:prstGeom prst="line">
            <a:avLst/>
          </a:prstGeom>
          <a:noFill/>
          <a:ln w="19050">
            <a:solidFill>
              <a:srgbClr val="A93B30"/>
            </a:solidFill>
            <a:prstDash val="dash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246120" y="4645152"/>
            <a:ext cx="256032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469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4645152"/>
            <a:ext cx="2414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93B30"/>
                </a:solidFill>
                <a:latin typeface="Arial" pitchFamily="34" charset="0"/>
                <a:ea typeface="+mn-ea"/>
                <a:cs typeface="Arial" pitchFamily="34" charset="-120"/>
              </a:rPr>
              <a:t>comparison blocked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68680" y="526694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93B30"/>
                </a:solidFill>
                <a:latin typeface="Arial" pitchFamily="34" charset="0"/>
                <a:ea typeface="+mn-ea"/>
                <a:cs typeface="Arial" pitchFamily="34" charset="-120"/>
              </a:rPr>
              <a:t>缺单位 / 无核实换算 → 不与阈值比较，不产出结论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4160520"/>
            <a:ext cx="5285232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297680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审计保留：源值与规范值同时发射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464515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4576B"/>
                </a:solidFill>
                <a:latin typeface="Courier New" pitchFamily="34" charset="0"/>
                <a:ea typeface="+mn-ea"/>
                <a:cs typeface="Courier New" pitchFamily="34" charset="-120"/>
              </a:rPr>
              <a:t>sourceValue / sourceUnit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326880" y="464515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202F"/>
                </a:solidFill>
                <a:latin typeface="Courier New" pitchFamily="34" charset="0"/>
                <a:ea typeface="+mn-ea"/>
                <a:cs typeface="Courier New" pitchFamily="34" charset="-120"/>
              </a:rPr>
              <a:t>7.8  mmol-per-L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50292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4576B"/>
                </a:solidFill>
                <a:latin typeface="Courier New" pitchFamily="34" charset="0"/>
                <a:ea typeface="+mn-ea"/>
                <a:cs typeface="Courier New" pitchFamily="34" charset="-120"/>
              </a:rPr>
              <a:t>normalizedValue / normalizedUnit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326880" y="50292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202F"/>
                </a:solidFill>
                <a:latin typeface="Courier New" pitchFamily="34" charset="0"/>
                <a:ea typeface="+mn-ea"/>
                <a:cs typeface="Courier New" pitchFamily="34" charset="-120"/>
              </a:rPr>
              <a:t>140.54  mg-per-dL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0" y="5303520"/>
            <a:ext cx="4828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可追溯不仅要看到用于规则的 140.54，也要看到上游原本记录的 7.8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0080" y="576072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换算系数是 analyte-specific 的：18.0182 由葡萄糖分子量决定，只适用于葡萄糖；规则层不在 SPARQL 内临时猜换算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40" kern="0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DETERMINISTIC SIMULATION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系统不仅能回答“现在怎样”，还能安全回答“如果怎样”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5C2"/>
                </a:solidFill>
                <a:latin typeface="Arial" pitchFamily="34" charset="0"/>
                <a:ea typeface="+mn-ea"/>
                <a:cs typeface="Arial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5C2"/>
                </a:solidFill>
                <a:latin typeface="Arial" pitchFamily="34" charset="0"/>
                <a:ea typeface="+mn-ea"/>
                <a:cs typeface="Arial" pitchFamily="34" charset="-120"/>
              </a:rPr>
              <a:t>12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228600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28600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SHARED SNAPSHOT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04672" y="2606040"/>
            <a:ext cx="195681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606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Knowledge Snapshot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04672" y="3063240"/>
            <a:ext cx="195681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0632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Patient Graph Snapshot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4672" y="3520440"/>
            <a:ext cx="195681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520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Rules Fingerprint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962656" y="2697480"/>
            <a:ext cx="384048" cy="0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962656" y="4160520"/>
            <a:ext cx="384048" cy="0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383280" y="1965960"/>
            <a:ext cx="5074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208483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BEFORE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66160" y="2395728"/>
            <a:ext cx="1554480" cy="548640"/>
          </a:xfrm>
          <a:prstGeom prst="roundRect">
            <a:avLst>
              <a:gd name="adj" fmla="val 11667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39312" y="2395728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Fresh Dataset 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212080" y="2395728"/>
            <a:ext cx="1554480" cy="548640"/>
          </a:xfrm>
          <a:prstGeom prst="roundRect">
            <a:avLst>
              <a:gd name="adj" fmla="val 11667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85232" y="2395728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Current Facts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157216" y="2670048"/>
            <a:ext cx="18288" cy="0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803136" y="2670048"/>
            <a:ext cx="164592" cy="0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004304" y="2395728"/>
            <a:ext cx="1280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77456" y="2395728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Before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Conclusions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83280" y="3520440"/>
            <a:ext cx="5074920" cy="1371600"/>
          </a:xfrm>
          <a:prstGeom prst="roundRect">
            <a:avLst>
              <a:gd name="adj" fmla="val 5333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63931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B8860B"/>
                </a:solidFill>
                <a:latin typeface="Arial" pitchFamily="34" charset="0"/>
                <a:ea typeface="+mn-ea"/>
                <a:cs typeface="Arial" pitchFamily="34" charset="-120"/>
              </a:rPr>
              <a:t>AFTER  ·  显式假设注入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566160" y="3950208"/>
            <a:ext cx="155448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39312" y="3950208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Fresh Dataset B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212080" y="3950208"/>
            <a:ext cx="155448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5875">
            <a:solidFill>
              <a:srgbClr val="E5B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85232" y="3995928"/>
            <a:ext cx="140817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860B"/>
                </a:solidFill>
                <a:latin typeface="Arial" pitchFamily="34" charset="0"/>
                <a:ea typeface="+mn-ea"/>
                <a:cs typeface="Arial" pitchFamily="34" charset="-120"/>
              </a:rPr>
              <a:t>Facts + Hypothesis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285232" y="4251960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860B"/>
                </a:solidFill>
                <a:latin typeface="Arial" pitchFamily="34" charset="0"/>
                <a:ea typeface="+mn-ea"/>
                <a:cs typeface="Arial" pitchFamily="34" charset="-120"/>
              </a:rPr>
              <a:t>hypothetical = true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03136" y="4224528"/>
            <a:ext cx="164592" cy="0"/>
          </a:xfrm>
          <a:prstGeom prst="line">
            <a:avLst/>
          </a:prstGeom>
          <a:noFill/>
          <a:ln w="19050">
            <a:solidFill>
              <a:srgbClr val="E5B23C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004304" y="3950208"/>
            <a:ext cx="1280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5B2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77456" y="3950208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B8860B"/>
                </a:solidFill>
                <a:latin typeface="Arial" pitchFamily="34" charset="0"/>
                <a:ea typeface="+mn-ea"/>
                <a:cs typeface="Arial" pitchFamily="34" charset="-120"/>
              </a:rPr>
              <a:t>After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B8860B"/>
                </a:solidFill>
                <a:latin typeface="Arial" pitchFamily="34" charset="0"/>
                <a:ea typeface="+mn-ea"/>
                <a:cs typeface="Arial" pitchFamily="34" charset="-120"/>
              </a:rPr>
              <a:t>Conclusions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503920" y="2670048"/>
            <a:ext cx="411480" cy="530352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 flipV="1">
            <a:off x="8503920" y="3657600"/>
            <a:ext cx="411480" cy="566928"/>
          </a:xfrm>
          <a:prstGeom prst="line">
            <a:avLst/>
          </a:prstGeom>
          <a:noFill/>
          <a:ln w="19050">
            <a:solidFill>
              <a:srgbClr val="E5B23C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961120" y="2651760"/>
            <a:ext cx="2587752" cy="1554480"/>
          </a:xfrm>
          <a:prstGeom prst="roundRect">
            <a:avLst>
              <a:gd name="adj" fmla="val 4706"/>
            </a:avLst>
          </a:prstGeom>
          <a:solidFill>
            <a:srgbClr val="E4F3F0"/>
          </a:solidFill>
          <a:ln w="15875">
            <a:solidFill>
              <a:srgbClr val="0E8C7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0" y="2788920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Delta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144000" y="3108960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A6A5F"/>
                </a:solidFill>
                <a:latin typeface="Courier New" pitchFamily="34" charset="0"/>
                <a:ea typeface="+mn-ea"/>
                <a:cs typeface="Courier New" pitchFamily="34" charset="-120"/>
              </a:rPr>
              <a:t>added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A6A5F"/>
                </a:solidFill>
                <a:latin typeface="Courier New" pitchFamily="34" charset="0"/>
                <a:ea typeface="+mn-ea"/>
                <a:cs typeface="Courier New" pitchFamily="34" charset="-120"/>
              </a:rPr>
              <a:t>removed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A6A5F"/>
                </a:solidFill>
                <a:latin typeface="Courier New" pitchFamily="34" charset="0"/>
                <a:ea typeface="+mn-ea"/>
                <a:cs typeface="Courier New" pitchFamily="34" charset="-120"/>
              </a:rPr>
              <a:t>changed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144000" y="3794760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+ derivation tree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40080" y="5120640"/>
            <a:ext cx="55778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" y="51206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GraphDB  ·  Read only  ·  writes = 0     假设不写回真实图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492240" y="5120640"/>
            <a:ext cx="5056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Simulation  ≠  Prediction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640080" y="580644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假设数值必须由调用方显式给出（term · value · unit · date）；系统不生成一个看起来合理的未来数值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40" kern="0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REPRODUCIBILITY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同一假设可以复现，但“可复现”不等于“临床正确”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5C2"/>
                </a:solidFill>
                <a:latin typeface="Arial" pitchFamily="34" charset="0"/>
                <a:ea typeface="+mn-ea"/>
                <a:cs typeface="Arial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5C2"/>
                </a:solidFill>
                <a:latin typeface="Arial" pitchFamily="34" charset="0"/>
                <a:ea typeface="+mn-ea"/>
                <a:cs typeface="Arial" pitchFamily="34" charset="-120"/>
              </a:rPr>
              <a:t>13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2514600" cy="457200"/>
          </a:xfrm>
          <a:prstGeom prst="roundRect">
            <a:avLst>
              <a:gd name="adj" fmla="val 180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91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202F"/>
                </a:solidFill>
                <a:latin typeface="Courier New" pitchFamily="34" charset="0"/>
                <a:ea typeface="+mn-ea"/>
                <a:cs typeface="Courier New" pitchFamily="34" charset="-120"/>
              </a:rPr>
              <a:t>patient ID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920240"/>
            <a:ext cx="777240" cy="1325880"/>
          </a:xfrm>
          <a:prstGeom prst="line">
            <a:avLst/>
          </a:prstGeom>
          <a:noFill/>
          <a:ln w="15875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0080" y="2258568"/>
            <a:ext cx="2514600" cy="457200"/>
          </a:xfrm>
          <a:prstGeom prst="roundRect">
            <a:avLst>
              <a:gd name="adj" fmla="val 180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2585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202F"/>
                </a:solidFill>
                <a:latin typeface="Courier New" pitchFamily="34" charset="0"/>
                <a:ea typeface="+mn-ea"/>
                <a:cs typeface="Courier New" pitchFamily="34" charset="-120"/>
              </a:rPr>
              <a:t>graph version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2487168"/>
            <a:ext cx="777240" cy="758952"/>
          </a:xfrm>
          <a:prstGeom prst="line">
            <a:avLst/>
          </a:prstGeom>
          <a:noFill/>
          <a:ln w="15875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0080" y="2825496"/>
            <a:ext cx="2514600" cy="457200"/>
          </a:xfrm>
          <a:prstGeom prst="roundRect">
            <a:avLst>
              <a:gd name="adj" fmla="val 180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82549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202F"/>
                </a:solidFill>
                <a:latin typeface="Courier New" pitchFamily="34" charset="0"/>
                <a:ea typeface="+mn-ea"/>
                <a:cs typeface="Courier New" pitchFamily="34" charset="-120"/>
              </a:rPr>
              <a:t>knowledge snapshot SHA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0" y="3054096"/>
            <a:ext cx="777240" cy="192024"/>
          </a:xfrm>
          <a:prstGeom prst="line">
            <a:avLst/>
          </a:prstGeom>
          <a:noFill/>
          <a:ln w="15875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0080" y="3392424"/>
            <a:ext cx="2514600" cy="457200"/>
          </a:xfrm>
          <a:prstGeom prst="roundRect">
            <a:avLst>
              <a:gd name="adj" fmla="val 180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39242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202F"/>
                </a:solidFill>
                <a:latin typeface="Courier New" pitchFamily="34" charset="0"/>
                <a:ea typeface="+mn-ea"/>
                <a:cs typeface="Courier New" pitchFamily="34" charset="-120"/>
              </a:rPr>
              <a:t>rules SHA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 flipV="1">
            <a:off x="3200400" y="3246120"/>
            <a:ext cx="777240" cy="374904"/>
          </a:xfrm>
          <a:prstGeom prst="line">
            <a:avLst/>
          </a:prstGeom>
          <a:noFill/>
          <a:ln w="15875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40080" y="3959352"/>
            <a:ext cx="2514600" cy="457200"/>
          </a:xfrm>
          <a:prstGeom prst="roundRect">
            <a:avLst>
              <a:gd name="adj" fmla="val 180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95935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202F"/>
                </a:solidFill>
                <a:latin typeface="Courier New" pitchFamily="34" charset="0"/>
                <a:ea typeface="+mn-ea"/>
                <a:cs typeface="Courier New" pitchFamily="34" charset="-120"/>
              </a:rPr>
              <a:t>sorted hypotheses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 flipV="1">
            <a:off x="3200400" y="3246120"/>
            <a:ext cx="777240" cy="941832"/>
          </a:xfrm>
          <a:prstGeom prst="line">
            <a:avLst/>
          </a:prstGeom>
          <a:noFill/>
          <a:ln w="15875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023360" y="2606040"/>
            <a:ext cx="1554480" cy="1280160"/>
          </a:xfrm>
          <a:prstGeom prst="hexagon">
            <a:avLst/>
          </a:prstGeom>
          <a:solidFill>
            <a:srgbClr val="11202F"/>
          </a:solidFill>
          <a:ln w="12700">
            <a:solidFill>
              <a:srgbClr val="11202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0" y="260604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SHA-256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23560" y="3246120"/>
            <a:ext cx="411480" cy="0"/>
          </a:xfrm>
          <a:prstGeom prst="line">
            <a:avLst/>
          </a:prstGeom>
          <a:noFill/>
          <a:ln w="22225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080760" y="2926080"/>
            <a:ext cx="1874520" cy="640080"/>
          </a:xfrm>
          <a:prstGeom prst="roundRect">
            <a:avLst>
              <a:gd name="adj" fmla="val 10000"/>
            </a:avLst>
          </a:prstGeom>
          <a:solidFill>
            <a:srgbClr val="E4F3F0"/>
          </a:solidFill>
          <a:ln w="19050">
            <a:solidFill>
              <a:srgbClr val="0E8C7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53912" y="2926080"/>
            <a:ext cx="1728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derivationHash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080760" y="3657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Same inputs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→ same hash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183880" y="1691640"/>
            <a:ext cx="3364992" cy="2395728"/>
          </a:xfrm>
          <a:prstGeom prst="roundRect">
            <a:avLst>
              <a:gd name="adj" fmla="val 1908"/>
            </a:avLst>
          </a:prstGeom>
          <a:solidFill>
            <a:srgbClr val="EDF1F6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11896" y="178308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C8CA0"/>
                </a:solidFill>
                <a:latin typeface="Courier New" pitchFamily="34" charset="0"/>
                <a:ea typeface="+mn-ea"/>
                <a:cs typeface="Courier New" pitchFamily="34" charset="-120"/>
              </a:rPr>
              <a:t>src/dmo/simulate/hashing.py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311896" y="1984248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itchFamily="34" charset="0"/>
                <a:ea typeface="+mn-ea"/>
                <a:cs typeface="Courier New" pitchFamily="34" charset="-120"/>
              </a:rPr>
              <a:t>h = hashlib.sha256()</a:t>
            </a:r>
            <a:endParaRPr lang="en-US" sz="80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itchFamily="34" charset="0"/>
                <a:ea typeface="+mn-ea"/>
                <a:cs typeface="Courier New" pitchFamily="34" charset="-120"/>
              </a:rPr>
              <a:t>for label, value in (</a:t>
            </a:r>
            <a:endParaRPr lang="en-US" sz="80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itchFamily="34" charset="0"/>
                <a:ea typeface="+mn-ea"/>
                <a:cs typeface="Courier New" pitchFamily="34" charset="-120"/>
              </a:rPr>
              <a:t>    ("pid", pid),</a:t>
            </a:r>
            <a:endParaRPr lang="en-US" sz="80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itchFamily="34" charset="0"/>
                <a:ea typeface="+mn-ea"/>
                <a:cs typeface="Courier New" pitchFamily="34" charset="-120"/>
              </a:rPr>
              <a:t>    ("graphVersion", graph_version),</a:t>
            </a:r>
            <a:endParaRPr lang="en-US" sz="80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itchFamily="34" charset="0"/>
                <a:ea typeface="+mn-ea"/>
                <a:cs typeface="Courier New" pitchFamily="34" charset="-120"/>
              </a:rPr>
              <a:t>    ("knowledgeSha", knowledge_sha),</a:t>
            </a:r>
            <a:endParaRPr lang="en-US" sz="80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itchFamily="34" charset="0"/>
                <a:ea typeface="+mn-ea"/>
                <a:cs typeface="Courier New" pitchFamily="34" charset="-120"/>
              </a:rPr>
              <a:t>    ("rulesSha", rules_sha),</a:t>
            </a:r>
            <a:endParaRPr lang="en-US" sz="80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itchFamily="34" charset="0"/>
                <a:ea typeface="+mn-ea"/>
                <a:cs typeface="Courier New" pitchFamily="34" charset="-120"/>
              </a:rPr>
              <a:t>):</a:t>
            </a:r>
            <a:endParaRPr lang="en-US" sz="80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itchFamily="34" charset="0"/>
                <a:ea typeface="+mn-ea"/>
                <a:cs typeface="Courier New" pitchFamily="34" charset="-120"/>
              </a:rPr>
              <a:t>    h.update(f"{label}\x1f{value}\x1e".encode())</a:t>
            </a:r>
            <a:endParaRPr lang="en-US" sz="80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itchFamily="34" charset="0"/>
                <a:ea typeface="+mn-ea"/>
                <a:cs typeface="Courier New" pitchFamily="34" charset="-120"/>
              </a:rPr>
              <a:t>for fp in sorted(x.fingerprint()</a:t>
            </a:r>
            <a:endParaRPr lang="en-US" sz="80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itchFamily="34" charset="0"/>
                <a:ea typeface="+mn-ea"/>
                <a:cs typeface="Courier New" pitchFamily="34" charset="-120"/>
              </a:rPr>
              <a:t>                 for x in hypotheses):</a:t>
            </a:r>
            <a:endParaRPr lang="en-US" sz="80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itchFamily="34" charset="0"/>
                <a:ea typeface="+mn-ea"/>
                <a:cs typeface="Courier New" pitchFamily="34" charset="-120"/>
              </a:rPr>
              <a:t>    h.update(f"hypothesis\x1f{fp}\x1e".encode())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183880" y="4206240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不含时间戳 · 不含请求 ID · 不含随机数</a:t>
            </a:r>
            <a:endParaRPr lang="en-US" sz="100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改一条规则，rules SHA 必须变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5074920"/>
            <a:ext cx="10911535" cy="658368"/>
          </a:xfrm>
          <a:prstGeom prst="roundRect">
            <a:avLst>
              <a:gd name="adj" fmla="val 11111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507492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Arial" pitchFamily="34" charset="0"/>
                <a:ea typeface="+mn-ea"/>
                <a:cs typeface="Arial" pitchFamily="34" charset="-120"/>
              </a:rPr>
              <a:t>Reproducible  ≠  Clinically Validated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6400800" y="507492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B8860B"/>
                </a:solidFill>
                <a:latin typeface="Arial" pitchFamily="34" charset="0"/>
                <a:ea typeface="+mn-ea"/>
                <a:cs typeface="Arial" pitchFamily="34" charset="-120"/>
              </a:rPr>
              <a:t>这是可复现性凭证，不是准确率、</a:t>
            </a:r>
            <a:endParaRPr lang="en-US" sz="1100" dirty="0"/>
          </a:p>
          <a:p>
            <a:pPr algn="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B8860B"/>
                </a:solidFill>
                <a:latin typeface="Arial" pitchFamily="34" charset="0"/>
                <a:ea typeface="+mn-ea"/>
                <a:cs typeface="Arial" pitchFamily="34" charset="-120"/>
              </a:rPr>
              <a:t>医学正确性或临床效果的证据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58704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Evidence Needed · 演示前在完整环境连续执行同一请求 5 次并保留相同哈希输出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40" kern="0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PROVENANCE CHAIN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每条结论都可以反向走回规则、原文和原始数据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5C2"/>
                </a:solidFill>
                <a:latin typeface="Arial" pitchFamily="34" charset="0"/>
                <a:ea typeface="+mn-ea"/>
                <a:cs typeface="Arial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5C2"/>
                </a:solidFill>
                <a:latin typeface="Arial" pitchFamily="34" charset="0"/>
                <a:ea typeface="+mn-ea"/>
                <a:cs typeface="Arial" pitchFamily="34" charset="-120"/>
              </a:rPr>
              <a:t>14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892040" y="2606040"/>
            <a:ext cx="2377440" cy="914400"/>
          </a:xfrm>
          <a:prstGeom prst="roundRect">
            <a:avLst>
              <a:gd name="adj" fmla="val 7000"/>
            </a:avLst>
          </a:prstGeom>
          <a:solidFill>
            <a:srgbClr val="E4F3F0"/>
          </a:solidFill>
          <a:ln w="25400">
            <a:solidFill>
              <a:srgbClr val="0E8C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65192" y="2606040"/>
            <a:ext cx="2231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Assessment /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Diagnosis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88920" y="2697480"/>
            <a:ext cx="1783080" cy="7315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9E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26974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LabResult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flipH="1">
            <a:off x="4617720" y="3063240"/>
            <a:ext cx="228600" cy="0"/>
          </a:xfrm>
          <a:prstGeom prst="line">
            <a:avLst/>
          </a:prstGeom>
          <a:noFill/>
          <a:ln w="19050">
            <a:solidFill>
              <a:srgbClr val="44576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 flipH="1">
            <a:off x="2514600" y="3063240"/>
            <a:ext cx="228600" cy="0"/>
          </a:xfrm>
          <a:prstGeom prst="line">
            <a:avLst/>
          </a:prstGeom>
          <a:noFill/>
          <a:ln w="19050">
            <a:solidFill>
              <a:srgbClr val="44576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0080" y="2697480"/>
            <a:ext cx="1828800" cy="731520"/>
          </a:xfrm>
          <a:prstGeom prst="roundRect">
            <a:avLst>
              <a:gd name="adj" fmla="val 875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743200"/>
            <a:ext cx="168249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SQL Row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" y="3099816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source table + PK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3520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sourceValue / sourceUnit  ·  回到上游原始行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635240" y="2084832"/>
            <a:ext cx="1783080" cy="658368"/>
          </a:xfrm>
          <a:prstGeom prst="hexagon">
            <a:avLst/>
          </a:prstGeom>
          <a:solidFill>
            <a:srgbClr val="FFFFFF"/>
          </a:solidFill>
          <a:ln w="15875">
            <a:solidFill>
              <a:srgbClr val="4457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35240" y="2084832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Threshold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635240" y="3383280"/>
            <a:ext cx="1783080" cy="658368"/>
          </a:xfrm>
          <a:prstGeom prst="hexagon">
            <a:avLst/>
          </a:prstGeom>
          <a:solidFill>
            <a:srgbClr val="FFFFFF"/>
          </a:solidFill>
          <a:ln w="15875">
            <a:solidFill>
              <a:srgbClr val="4457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35240" y="338328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Rule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 flipV="1">
            <a:off x="7315200" y="2487168"/>
            <a:ext cx="274320" cy="393192"/>
          </a:xfrm>
          <a:prstGeom prst="line">
            <a:avLst/>
          </a:prstGeom>
          <a:noFill/>
          <a:ln w="19050">
            <a:solidFill>
              <a:srgbClr val="44576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315200" y="3246120"/>
            <a:ext cx="274320" cy="393192"/>
          </a:xfrm>
          <a:prstGeom prst="line">
            <a:avLst/>
          </a:prstGeom>
          <a:noFill/>
          <a:ln w="19050">
            <a:solidFill>
              <a:srgbClr val="44576B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829800" y="2606040"/>
            <a:ext cx="1719072" cy="914400"/>
          </a:xfrm>
          <a:prstGeom prst="flowChartDocument">
            <a:avLst/>
          </a:prstGeom>
          <a:solidFill>
            <a:srgbClr val="FFFFFF"/>
          </a:solidFill>
          <a:ln w="15875">
            <a:solidFill>
              <a:srgbClr val="4457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29800" y="2651760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SourcePassage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4040" y="2414016"/>
            <a:ext cx="320040" cy="420624"/>
          </a:xfrm>
          <a:prstGeom prst="line">
            <a:avLst/>
          </a:prstGeom>
          <a:noFill/>
          <a:ln w="19050">
            <a:solidFill>
              <a:srgbClr val="44576B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9464040" y="3291840"/>
            <a:ext cx="320040" cy="420624"/>
          </a:xfrm>
          <a:prstGeom prst="line">
            <a:avLst/>
          </a:prstGeom>
          <a:noFill/>
          <a:ln w="19050">
            <a:solidFill>
              <a:srgbClr val="44576B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052560" y="4160520"/>
            <a:ext cx="2496312" cy="457200"/>
          </a:xfrm>
          <a:prstGeom prst="roundRect">
            <a:avLst>
              <a:gd name="adj" fmla="val 14000"/>
            </a:avLst>
          </a:prstGeom>
          <a:solidFill>
            <a:srgbClr val="E4F3F0"/>
          </a:solidFill>
          <a:ln w="12700">
            <a:solidFill>
              <a:srgbClr val="E4F3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52560" y="416052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6A5F"/>
                </a:solidFill>
                <a:latin typeface="Courier New" pitchFamily="34" charset="0"/>
                <a:ea typeface="+mn-ea"/>
                <a:cs typeface="Courier New" pitchFamily="34" charset="-120"/>
              </a:rPr>
              <a:t>verbatim quote + SHA-256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305288" y="3566160"/>
            <a:ext cx="0" cy="557784"/>
          </a:xfrm>
          <a:prstGeom prst="line">
            <a:avLst/>
          </a:prstGeom>
          <a:noFill/>
          <a:ln w="15875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080760" y="3566160"/>
            <a:ext cx="0" cy="594360"/>
          </a:xfrm>
          <a:prstGeom prst="line">
            <a:avLst/>
          </a:prstGeom>
          <a:noFill/>
          <a:ln w="19050">
            <a:solidFill>
              <a:srgbClr val="E5B23C"/>
            </a:solidFill>
            <a:prstDash val="dash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892040" y="4160520"/>
            <a:ext cx="2377440" cy="566928"/>
          </a:xfrm>
          <a:prstGeom prst="roundRect">
            <a:avLst>
              <a:gd name="adj" fmla="val 11290"/>
            </a:avLst>
          </a:prstGeom>
          <a:solidFill>
            <a:srgbClr val="FAF1DE"/>
          </a:solidFill>
          <a:ln w="15875">
            <a:solidFill>
              <a:srgbClr val="E5B23C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4965192" y="4160520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8860B"/>
                </a:solidFill>
                <a:latin typeface="Arial" pitchFamily="34" charset="0"/>
                <a:ea typeface="+mn-ea"/>
                <a:cs typeface="Arial" pitchFamily="34" charset="-120"/>
              </a:rPr>
              <a:t>brokenLinks [ ]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206240" y="47731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860B"/>
                </a:solidFill>
                <a:latin typeface="Arial" pitchFamily="34" charset="0"/>
                <a:ea typeface="+mn-ea"/>
                <a:cs typeface="Arial" pitchFamily="34" charset="-120"/>
              </a:rPr>
              <a:t>断链本身是返回体的一部分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589520" y="4773168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阈值 · 规则 → 逐字原文 → 内容哈希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0080" y="448056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E4F3F0"/>
          </a:solidFill>
          <a:ln w="12700">
            <a:solidFill>
              <a:srgbClr val="E4F3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459028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31 / 31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822960" y="507492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逐字引文命中 · SHA-256 一致</a:t>
            </a:r>
            <a:endParaRPr lang="en-US" sz="9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本次本地实际执行结果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40080" y="576072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限定：31/31 只证明 seed 中被提升为可信 SourcePassage 的引用，不代表全部抽取 recommendation 与 contraindication 达到同样标准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40" kern="0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EVIDENCE MATRIX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可信不是口号：哪些已经证明，哪些还没有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5C2"/>
                </a:solidFill>
                <a:latin typeface="Arial" pitchFamily="34" charset="0"/>
                <a:ea typeface="+mn-ea"/>
                <a:cs typeface="Arial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5C2"/>
                </a:solidFill>
                <a:latin typeface="Arial" pitchFamily="34" charset="0"/>
                <a:ea typeface="+mn-ea"/>
                <a:cs typeface="Arial" pitchFamily="34" charset="-120"/>
              </a:rPr>
              <a:t>15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5257800" cy="457200"/>
          </a:xfrm>
          <a:prstGeom prst="roundRect">
            <a:avLst>
              <a:gd name="adj" fmla="val 14000"/>
            </a:avLst>
          </a:prstGeom>
          <a:solidFill>
            <a:srgbClr val="E4F3F0"/>
          </a:solidFill>
          <a:ln w="12700">
            <a:solidFill>
              <a:srgbClr val="E4F3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72768"/>
            <a:ext cx="4855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PROVEN / IMPLEMENTED · 本次可执行证据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212848"/>
            <a:ext cx="5257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12848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31/31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286000" y="2212848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逐字引文验证通过 — verify_passages.py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081528"/>
            <a:ext cx="5257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081528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19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2286000" y="3081528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SPARQL guard 单元测试通过 — tests/test_guard.py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950208"/>
            <a:ext cx="5257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950208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3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2286000" y="3950208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上游只读三道锁已实现 — db/engine.py · baseline.py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818888"/>
            <a:ext cx="5257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818888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√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2286000" y="4818888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命名图 PUT 同步 + 内存推演沙箱已实现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91072" y="1572768"/>
            <a:ext cx="5257800" cy="457200"/>
          </a:xfrm>
          <a:prstGeom prst="roundRect">
            <a:avLst>
              <a:gd name="adj" fmla="val 14000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1572768"/>
            <a:ext cx="4855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B8860B"/>
                </a:solidFill>
                <a:latin typeface="Arial" pitchFamily="34" charset="0"/>
                <a:ea typeface="+mn-ea"/>
                <a:cs typeface="Arial" pitchFamily="34" charset="-120"/>
              </a:rPr>
              <a:t>NOT YET PROVEN · 当前失败或未实现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91072" y="2212848"/>
            <a:ext cx="5257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2212848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B8860B"/>
                </a:solidFill>
                <a:latin typeface="Arial" pitchFamily="34" charset="0"/>
                <a:ea typeface="+mn-ea"/>
                <a:cs typeface="Arial" pitchFamily="34" charset="-120"/>
              </a:rPr>
              <a:t>155</a:t>
            </a:r>
            <a:endParaRPr lang="en-US" sz="2500" dirty="0"/>
          </a:p>
        </p:txBody>
      </p:sp>
      <p:sp>
        <p:nvSpPr>
          <p:cNvPr id="24" name="Text 22"/>
          <p:cNvSpPr/>
          <p:nvPr/>
        </p:nvSpPr>
        <p:spPr>
          <a:xfrm>
            <a:off x="7936992" y="2212848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集成测试本次跳过 — 缺 PostgreSQL / GraphDB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91072" y="3081528"/>
            <a:ext cx="5257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73952" y="3081528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B8860B"/>
                </a:solidFill>
                <a:latin typeface="Arial" pitchFamily="34" charset="0"/>
                <a:ea typeface="+mn-ea"/>
                <a:cs typeface="Arial" pitchFamily="34" charset="-120"/>
              </a:rPr>
              <a:t>2</a:t>
            </a:r>
            <a:endParaRPr lang="en-US" sz="2500" dirty="0"/>
          </a:p>
        </p:txBody>
      </p:sp>
      <p:sp>
        <p:nvSpPr>
          <p:cNvPr id="27" name="Text 25"/>
          <p:cNvSpPr/>
          <p:nvPr/>
        </p:nvSpPr>
        <p:spPr>
          <a:xfrm>
            <a:off x="7936992" y="3081528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条新增 SHACL 违规（另有 10 条已知基线）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91072" y="3950208"/>
            <a:ext cx="5257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73952" y="3950208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B8860B"/>
                </a:solidFill>
                <a:latin typeface="Arial" pitchFamily="34" charset="0"/>
                <a:ea typeface="+mn-ea"/>
                <a:cs typeface="Arial" pitchFamily="34" charset="-120"/>
              </a:rPr>
              <a:t>0</a:t>
            </a:r>
            <a:endParaRPr lang="en-US" sz="2500" dirty="0"/>
          </a:p>
        </p:txBody>
      </p:sp>
      <p:sp>
        <p:nvSpPr>
          <p:cNvPr id="30" name="Text 28"/>
          <p:cNvSpPr/>
          <p:nvPr/>
        </p:nvSpPr>
        <p:spPr>
          <a:xfrm>
            <a:off x="7936992" y="3950208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可执行 baseline benchmark — 无评测运行器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91072" y="4818888"/>
            <a:ext cx="5257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73952" y="4818888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B8860B"/>
                </a:solidFill>
                <a:latin typeface="Arial" pitchFamily="34" charset="0"/>
                <a:ea typeface="+mn-ea"/>
                <a:cs typeface="Arial" pitchFamily="34" charset="-120"/>
              </a:rPr>
              <a:t>0</a:t>
            </a:r>
            <a:endParaRPr lang="en-US" sz="2500" dirty="0"/>
          </a:p>
        </p:txBody>
      </p:sp>
      <p:sp>
        <p:nvSpPr>
          <p:cNvPr id="33" name="Text 31"/>
          <p:cNvSpPr/>
          <p:nvPr/>
        </p:nvSpPr>
        <p:spPr>
          <a:xfrm>
            <a:off x="7936992" y="4818888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内置 Agent loop / dmo ask — src/dmo/agent 不存在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5623560"/>
            <a:ext cx="10911535" cy="45720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5623560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No unsupported benchmark numbers —— 不使用静态 demo 页中的 94.7% / 89.3% / 100%，它们没有计算脚本与评测产物支持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40" kern="0" dirty="0">
                <a:solidFill>
                  <a:srgbClr val="3FC7B4"/>
                </a:solidFill>
                <a:latin typeface="Arial" pitchFamily="34" charset="0"/>
                <a:ea typeface="+mn-ea"/>
                <a:cs typeface="Arial" pitchFamily="34" charset="-120"/>
              </a:rPr>
              <a:t>VALUE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项目的价值，是把“相信模型”转成“检查证据”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E96"/>
                </a:solidFill>
                <a:latin typeface="Arial" pitchFamily="34" charset="0"/>
                <a:ea typeface="+mn-ea"/>
                <a:cs typeface="Arial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E96"/>
                </a:solidFill>
                <a:latin typeface="Arial" pitchFamily="34" charset="0"/>
                <a:ea typeface="+mn-ea"/>
                <a:cs typeface="Arial" pitchFamily="34" charset="-120"/>
              </a:rPr>
              <a:t>16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2286000" cy="1691640"/>
          </a:xfrm>
          <a:prstGeom prst="roundRect">
            <a:avLst>
              <a:gd name="adj" fmla="val 4865"/>
            </a:avLst>
          </a:prstGeom>
          <a:solidFill>
            <a:srgbClr val="14243D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194560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Knowledge</a:t>
            </a:r>
            <a:endParaRPr lang="en-US" sz="15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Governance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0392" y="2926080"/>
            <a:ext cx="1956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3A4BC"/>
                </a:solidFill>
                <a:latin typeface="Arial" pitchFamily="34" charset="0"/>
                <a:ea typeface="+mn-ea"/>
                <a:cs typeface="Arial" pitchFamily="34" charset="-120"/>
              </a:rPr>
              <a:t>可重建 · 可版本化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3A4BC"/>
                </a:solidFill>
                <a:latin typeface="Arial" pitchFamily="34" charset="0"/>
                <a:ea typeface="+mn-ea"/>
                <a:cs typeface="Arial" pitchFamily="34" charset="-120"/>
              </a:rPr>
              <a:t>可定位缺陷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60" kern="0" dirty="0">
                <a:solidFill>
                  <a:srgbClr val="3FC7B4"/>
                </a:solidFill>
                <a:latin typeface="Arial" pitchFamily="34" charset="0"/>
                <a:ea typeface="+mn-ea"/>
                <a:cs typeface="Arial" pitchFamily="34" charset="-120"/>
              </a:rPr>
              <a:t>Knowledge Engineer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26664" y="2852928"/>
            <a:ext cx="210312" cy="0"/>
          </a:xfrm>
          <a:prstGeom prst="line">
            <a:avLst/>
          </a:prstGeom>
          <a:noFill/>
          <a:ln w="19050">
            <a:solidFill>
              <a:srgbClr val="3FC7B4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291840" y="2011680"/>
            <a:ext cx="2286000" cy="1691640"/>
          </a:xfrm>
          <a:prstGeom prst="roundRect">
            <a:avLst>
              <a:gd name="adj" fmla="val 4865"/>
            </a:avLst>
          </a:prstGeom>
          <a:solidFill>
            <a:srgbClr val="14243D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6432" y="2194560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Data</a:t>
            </a:r>
            <a:endParaRPr lang="en-US" sz="15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Governance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56432" y="2926080"/>
            <a:ext cx="1956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3A4BC"/>
                </a:solidFill>
                <a:latin typeface="Arial" pitchFamily="34" charset="0"/>
                <a:ea typeface="+mn-ea"/>
                <a:cs typeface="Arial" pitchFamily="34" charset="-120"/>
              </a:rPr>
              <a:t>术语映射 · 单位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3A4BC"/>
                </a:solidFill>
                <a:latin typeface="Arial" pitchFamily="34" charset="0"/>
                <a:ea typeface="+mn-ea"/>
                <a:cs typeface="Arial" pitchFamily="34" charset="-120"/>
              </a:rPr>
              <a:t>可信度状态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9184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60" kern="0" dirty="0">
                <a:solidFill>
                  <a:srgbClr val="3FC7B4"/>
                </a:solidFill>
                <a:latin typeface="Arial" pitchFamily="34" charset="0"/>
                <a:ea typeface="+mn-ea"/>
                <a:cs typeface="Arial" pitchFamily="34" charset="-120"/>
              </a:rPr>
              <a:t>Data Engineer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32704" y="2852928"/>
            <a:ext cx="210312" cy="0"/>
          </a:xfrm>
          <a:prstGeom prst="line">
            <a:avLst/>
          </a:prstGeom>
          <a:noFill/>
          <a:ln w="19050">
            <a:solidFill>
              <a:srgbClr val="3FC7B4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897880" y="2011680"/>
            <a:ext cx="2286000" cy="1691640"/>
          </a:xfrm>
          <a:prstGeom prst="roundRect">
            <a:avLst>
              <a:gd name="adj" fmla="val 4865"/>
            </a:avLst>
          </a:prstGeom>
          <a:solidFill>
            <a:srgbClr val="14243D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2194560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Reasoning</a:t>
            </a:r>
            <a:endParaRPr lang="en-US" sz="15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Governance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62472" y="2926080"/>
            <a:ext cx="1956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3A4BC"/>
                </a:solidFill>
                <a:latin typeface="Arial" pitchFamily="34" charset="0"/>
                <a:ea typeface="+mn-ea"/>
                <a:cs typeface="Arial" pitchFamily="34" charset="-120"/>
              </a:rPr>
              <a:t>规则 · 上下文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3A4BC"/>
                </a:solidFill>
                <a:latin typeface="Arial" pitchFamily="34" charset="0"/>
                <a:ea typeface="+mn-ea"/>
                <a:cs typeface="Arial" pitchFamily="34" charset="-120"/>
              </a:rPr>
              <a:t>能力边界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89788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60" kern="0" dirty="0">
                <a:solidFill>
                  <a:srgbClr val="3FC7B4"/>
                </a:solidFill>
                <a:latin typeface="Arial" pitchFamily="34" charset="0"/>
                <a:ea typeface="+mn-ea"/>
                <a:cs typeface="Arial" pitchFamily="34" charset="-120"/>
              </a:rPr>
              <a:t>Agent Developer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238744" y="2852928"/>
            <a:ext cx="210312" cy="0"/>
          </a:xfrm>
          <a:prstGeom prst="line">
            <a:avLst/>
          </a:prstGeom>
          <a:noFill/>
          <a:ln w="19050">
            <a:solidFill>
              <a:srgbClr val="3FC7B4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503920" y="2011680"/>
            <a:ext cx="2286000" cy="1691640"/>
          </a:xfrm>
          <a:prstGeom prst="roundRect">
            <a:avLst>
              <a:gd name="adj" fmla="val 4865"/>
            </a:avLst>
          </a:prstGeom>
          <a:solidFill>
            <a:srgbClr val="14243D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68512" y="2194560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Agent</a:t>
            </a:r>
            <a:endParaRPr lang="en-US" sz="15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Governance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68512" y="2926080"/>
            <a:ext cx="1956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3A4BC"/>
                </a:solidFill>
                <a:latin typeface="Arial" pitchFamily="34" charset="0"/>
                <a:ea typeface="+mn-ea"/>
                <a:cs typeface="Arial" pitchFamily="34" charset="-120"/>
              </a:rPr>
              <a:t>manifest · 禁令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3A4BC"/>
                </a:solidFill>
                <a:latin typeface="Arial" pitchFamily="34" charset="0"/>
                <a:ea typeface="+mn-ea"/>
                <a:cs typeface="Arial" pitchFamily="34" charset="-120"/>
              </a:rPr>
              <a:t>证据契约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50392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60" kern="0" dirty="0">
                <a:solidFill>
                  <a:srgbClr val="3FC7B4"/>
                </a:solidFill>
                <a:latin typeface="Arial" pitchFamily="34" charset="0"/>
                <a:ea typeface="+mn-ea"/>
                <a:cs typeface="Arial" pitchFamily="34" charset="-120"/>
              </a:rPr>
              <a:t>Technical Governance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377440" y="4343400"/>
            <a:ext cx="7434072" cy="777240"/>
          </a:xfrm>
          <a:prstGeom prst="roundRect">
            <a:avLst>
              <a:gd name="adj" fmla="val 11765"/>
            </a:avLst>
          </a:prstGeom>
          <a:solidFill>
            <a:srgbClr val="0A1526"/>
          </a:solidFill>
          <a:ln w="22225">
            <a:solidFill>
              <a:srgbClr val="0E8C7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77440" y="4343400"/>
            <a:ext cx="7434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FC7B4"/>
                </a:solidFill>
                <a:latin typeface="Arial" pitchFamily="34" charset="0"/>
                <a:ea typeface="+mn-ea"/>
                <a:cs typeface="Arial" pitchFamily="34" charset="-120"/>
              </a:rPr>
              <a:t>Verifiable Semantic Control Plane</a:t>
            </a:r>
            <a:endParaRPr lang="en-US" sz="2500" dirty="0"/>
          </a:p>
        </p:txBody>
      </p:sp>
      <p:sp>
        <p:nvSpPr>
          <p:cNvPr id="27" name="Text 25"/>
          <p:cNvSpPr/>
          <p:nvPr/>
        </p:nvSpPr>
        <p:spPr>
          <a:xfrm>
            <a:off x="640080" y="5349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3A4BC"/>
                </a:solidFill>
                <a:latin typeface="Arial" pitchFamily="34" charset="0"/>
                <a:ea typeface="+mn-ea"/>
                <a:cs typeface="Arial" pitchFamily="34" charset="-120"/>
              </a:rPr>
              <a:t>不替代医生，而是为医疗 AI 增加一层可验证的语义控制面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0" y="5349240"/>
            <a:ext cx="5148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Generate less.  Verify more.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40" kern="0" dirty="0">
                <a:solidFill>
                  <a:srgbClr val="3FC7B4"/>
                </a:solidFill>
                <a:latin typeface="Arial" pitchFamily="34" charset="0"/>
                <a:ea typeface="+mn-ea"/>
                <a:cs typeface="Arial" pitchFamily="34" charset="-120"/>
              </a:rPr>
              <a:t>ROADMAP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下一阶段：从可信推理底座，走向可评测、可运营的系统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E96"/>
                </a:solidFill>
                <a:latin typeface="Arial" pitchFamily="34" charset="0"/>
                <a:ea typeface="+mn-ea"/>
                <a:cs typeface="Arial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E96"/>
                </a:solidFill>
                <a:latin typeface="Arial" pitchFamily="34" charset="0"/>
                <a:ea typeface="+mn-ea"/>
                <a:cs typeface="Arial" pitchFamily="34" charset="-120"/>
              </a:rPr>
              <a:t>17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429000" cy="2788920"/>
          </a:xfrm>
          <a:prstGeom prst="roundRect">
            <a:avLst>
              <a:gd name="adj" fmla="val 2951"/>
            </a:avLst>
          </a:prstGeom>
          <a:solidFill>
            <a:srgbClr val="14243D"/>
          </a:solidFill>
          <a:ln w="22225">
            <a:solidFill>
              <a:srgbClr val="0E8C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7627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150" kern="0" dirty="0">
                <a:solidFill>
                  <a:srgbClr val="3FC7B4"/>
                </a:solidFill>
                <a:latin typeface="Arial" pitchFamily="34" charset="0"/>
                <a:ea typeface="+mn-ea"/>
                <a:cs typeface="Arial" pitchFamily="34" charset="-120"/>
              </a:rPr>
              <a:t>NOW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2596896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验证闭环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07238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Arial" pitchFamily="34" charset="0"/>
                <a:ea typeface="+mn-ea"/>
                <a:cs typeface="Arial" pitchFamily="34" charset="-120"/>
              </a:rPr>
              <a:t>—  修复 2 条新增 SHACL 违规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5844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Arial" pitchFamily="34" charset="0"/>
                <a:ea typeface="+mn-ea"/>
                <a:cs typeface="Arial" pitchFamily="34" charset="-120"/>
              </a:rPr>
              <a:t>—  强制 PG + GraphDB 集成测试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409651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Arial" pitchFamily="34" charset="0"/>
                <a:ea typeface="+mn-ea"/>
                <a:cs typeface="Arial" pitchFamily="34" charset="-120"/>
              </a:rPr>
              <a:t>—  避免「155 skipped 仍显示绿」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23944" y="3337560"/>
            <a:ext cx="237744" cy="0"/>
          </a:xfrm>
          <a:prstGeom prst="line">
            <a:avLst/>
          </a:prstGeom>
          <a:noFill/>
          <a:ln w="19050">
            <a:solidFill>
              <a:srgbClr val="3FC7B4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416552" y="1965960"/>
            <a:ext cx="3429000" cy="2788920"/>
          </a:xfrm>
          <a:prstGeom prst="roundRect">
            <a:avLst>
              <a:gd name="adj" fmla="val 2951"/>
            </a:avLst>
          </a:prstGeom>
          <a:solidFill>
            <a:srgbClr val="0A1526"/>
          </a:solidFill>
          <a:ln w="12700">
            <a:solidFill>
              <a:srgbClr val="2B3F5E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645152" y="217627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150" kern="0" dirty="0">
                <a:solidFill>
                  <a:srgbClr val="93A4BC"/>
                </a:solidFill>
                <a:latin typeface="Arial" pitchFamily="34" charset="0"/>
                <a:ea typeface="+mn-ea"/>
                <a:cs typeface="Arial" pitchFamily="34" charset="-120"/>
              </a:rPr>
              <a:t>NEXT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45152" y="2596896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Agent + Evaluation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45152" y="307238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3A4BC"/>
                </a:solidFill>
                <a:latin typeface="Arial" pitchFamily="34" charset="0"/>
                <a:ea typeface="+mn-ea"/>
                <a:cs typeface="Arial" pitchFamily="34" charset="-120"/>
              </a:rPr>
              <a:t>—  受控 Agent loop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45152" y="35844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3A4BC"/>
                </a:solidFill>
                <a:latin typeface="Arial" pitchFamily="34" charset="0"/>
                <a:ea typeface="+mn-ea"/>
                <a:cs typeface="Arial" pitchFamily="34" charset="-120"/>
              </a:rPr>
              <a:t>—  真实 baseline harness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45152" y="409651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3A4BC"/>
                </a:solidFill>
                <a:latin typeface="Arial" pitchFamily="34" charset="0"/>
                <a:ea typeface="+mn-ea"/>
                <a:cs typeface="Arial" pitchFamily="34" charset="-120"/>
              </a:rPr>
              <a:t>—  同一测试集 · 可复现评测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00416" y="3337560"/>
            <a:ext cx="237744" cy="0"/>
          </a:xfrm>
          <a:prstGeom prst="line">
            <a:avLst/>
          </a:prstGeom>
          <a:noFill/>
          <a:ln w="19050">
            <a:solidFill>
              <a:srgbClr val="3FC7B4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93024" y="1965960"/>
            <a:ext cx="3429000" cy="2788920"/>
          </a:xfrm>
          <a:prstGeom prst="roundRect">
            <a:avLst>
              <a:gd name="adj" fmla="val 2951"/>
            </a:avLst>
          </a:prstGeom>
          <a:solidFill>
            <a:srgbClr val="0A1526"/>
          </a:solidFill>
          <a:ln w="12700">
            <a:solidFill>
              <a:srgbClr val="2B3F5E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8421624" y="217627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150" kern="0" dirty="0">
                <a:solidFill>
                  <a:srgbClr val="93A4BC"/>
                </a:solidFill>
                <a:latin typeface="Arial" pitchFamily="34" charset="0"/>
                <a:ea typeface="+mn-ea"/>
                <a:cs typeface="Arial" pitchFamily="34" charset="-120"/>
              </a:rPr>
              <a:t>LATER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421624" y="2596896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Production Governance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21624" y="307238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3A4BC"/>
                </a:solidFill>
                <a:latin typeface="Arial" pitchFamily="34" charset="0"/>
                <a:ea typeface="+mn-ea"/>
                <a:cs typeface="Arial" pitchFamily="34" charset="-120"/>
              </a:rPr>
              <a:t>—  Auth · audit · rate limit · observability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21624" y="35844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3A4BC"/>
                </a:solidFill>
                <a:latin typeface="Arial" pitchFamily="34" charset="0"/>
                <a:ea typeface="+mn-ea"/>
                <a:cs typeface="Arial" pitchFamily="34" charset="-120"/>
              </a:rPr>
              <a:t>—  知识版本审批 · 人工复核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21624" y="409651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3A4BC"/>
                </a:solidFill>
                <a:latin typeface="Arial" pitchFamily="34" charset="0"/>
                <a:ea typeface="+mn-ea"/>
                <a:cs typeface="Arial" pitchFamily="34" charset="-120"/>
              </a:rPr>
              <a:t>—  临床工作流集成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49834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3A4BC"/>
                </a:solidFill>
                <a:latin typeface="Arial" pitchFamily="34" charset="0"/>
                <a:ea typeface="+mn-ea"/>
                <a:cs typeface="Arial" pitchFamily="34" charset="-120"/>
              </a:rPr>
              <a:t>NOW 是 NEXT 的前置条件，NEXT 是 LATER 的前置条件；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3A4BC"/>
                </a:solidFill>
                <a:latin typeface="Arial" pitchFamily="34" charset="0"/>
                <a:ea typeface="+mn-ea"/>
                <a:cs typeface="Arial" pitchFamily="34" charset="-120"/>
              </a:rPr>
              <a:t>三阶段均为未来工作，标记 Planned / Evidence Needed，不与已实现能力混同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89520" y="4919472"/>
            <a:ext cx="3959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FC7B4"/>
                </a:solidFill>
                <a:latin typeface="Arial" pitchFamily="34" charset="0"/>
                <a:ea typeface="+mn-ea"/>
                <a:cs typeface="Arial" pitchFamily="34" charset="-120"/>
              </a:rPr>
              <a:t>Evidence-aware</a:t>
            </a:r>
            <a:endParaRPr lang="en-US" sz="200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FC7B4"/>
                </a:solidFill>
                <a:latin typeface="Arial" pitchFamily="34" charset="0"/>
                <a:ea typeface="+mn-ea"/>
                <a:cs typeface="Arial" pitchFamily="34" charset="-120"/>
              </a:rPr>
              <a:t>before autonomous.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Diabetes Ontology Agent — 可构建 · 可推理 · 可追溯</dc:title>
  <dc:subject>PptxGenJS Presentation</dc:subject>
  <dc:creator>Diabetes Ontology Agent</dc:creator>
  <cp:lastModifiedBy>Diabetes Ontology Agent</cp:lastModifiedBy>
  <cp:revision>1</cp:revision>
  <dcterms:created xsi:type="dcterms:W3CDTF">2026-08-21T03:25:33Z</dcterms:created>
  <dcterms:modified xsi:type="dcterms:W3CDTF">2026-08-21T03:25:33Z</dcterms:modified>
</cp:coreProperties>
</file>